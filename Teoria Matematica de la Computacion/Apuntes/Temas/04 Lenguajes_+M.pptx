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20"/>
  </p:notesMasterIdLst>
  <p:sldIdLst>
    <p:sldId id="299" r:id="rId2"/>
    <p:sldId id="280" r:id="rId3"/>
    <p:sldId id="283" r:id="rId4"/>
    <p:sldId id="284" r:id="rId5"/>
    <p:sldId id="298" r:id="rId6"/>
    <p:sldId id="285" r:id="rId7"/>
    <p:sldId id="286" r:id="rId8"/>
    <p:sldId id="297" r:id="rId9"/>
    <p:sldId id="287" r:id="rId10"/>
    <p:sldId id="300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6" r:id="rId19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18" autoAdjust="0"/>
    <p:restoredTop sz="94660"/>
  </p:normalViewPr>
  <p:slideViewPr>
    <p:cSldViewPr>
      <p:cViewPr varScale="1">
        <p:scale>
          <a:sx n="74" d="100"/>
          <a:sy n="74" d="100"/>
        </p:scale>
        <p:origin x="132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E4570-6D72-48F2-9A12-8827DEA2C4C1}" type="datetimeFigureOut">
              <a:rPr lang="es-MX" smtClean="0"/>
              <a:pPr/>
              <a:t>17/08/2016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A891C7-A986-45F2-854B-42EBDA6A9230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2555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A891C7-A986-45F2-854B-42EBDA6A9230}" type="slidenum">
              <a:rPr lang="es-MX" smtClean="0"/>
              <a:pPr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8892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318B2D-CE59-40CB-B22E-243C96B663D0}" type="slidenum">
              <a:rPr lang="es-MX" smtClean="0"/>
              <a:pPr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439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237A-5302-41C3-BE21-9DF3D9144DDF}" type="datetime1">
              <a:rPr lang="es-MX" smtClean="0"/>
              <a:pPr/>
              <a:t>17/08/2016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Estructuras de datos (Prof. Edgardo A. Franco)</a:t>
            </a:r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85515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5B46-2395-4782-A6CE-ECF6AA0813AC}" type="datetime1">
              <a:rPr lang="es-MX" smtClean="0"/>
              <a:pPr/>
              <a:t>17/08/2016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Estructuras de datos (Prof. Edgardo A. Franco)</a:t>
            </a:r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94182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E9F1-CB87-495B-B361-522E9F1272CB}" type="datetime1">
              <a:rPr lang="es-MX" smtClean="0"/>
              <a:pPr/>
              <a:t>17/08/2016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Estructuras de datos (Prof. Edgardo A. Franco)</a:t>
            </a:r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8320769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121E-F17D-459B-A671-B1861024B2E0}" type="datetime1">
              <a:rPr lang="es-MX" smtClean="0"/>
              <a:pPr/>
              <a:t>17/08/2016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Estructuras de datos (Prof. Edgardo A. Franco)</a:t>
            </a:r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32983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96802-D4FD-4D90-9E42-CEE4EB85C3F0}" type="datetime1">
              <a:rPr lang="es-MX" smtClean="0"/>
              <a:pPr/>
              <a:t>17/08/2016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Estructuras de datos (Prof. Edgardo A. Franco)</a:t>
            </a:r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460760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030F8-13FD-45B6-A458-A699A7CFC91F}" type="datetime1">
              <a:rPr lang="es-MX" smtClean="0"/>
              <a:pPr/>
              <a:t>17/08/2016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Estructuras de datos (Prof. Edgardo A. Franco)</a:t>
            </a:r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95205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08EB6-59B1-4F6B-9C77-B5F0A3456DEE}" type="datetime1">
              <a:rPr lang="es-MX" smtClean="0"/>
              <a:pPr/>
              <a:t>17/08/2016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Estructuras de datos (Prof. Edgardo A. Franco)</a:t>
            </a:r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35709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02DD-C15A-45C6-A086-28BB08BA6821}" type="datetime1">
              <a:rPr lang="es-MX" smtClean="0"/>
              <a:pPr/>
              <a:t>17/08/2016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Estructuras de datos (Prof. Edgardo A. Franco)</a:t>
            </a:r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045516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862DD-49AA-411E-8AF4-4782F0785C0D}" type="datetime1">
              <a:rPr lang="es-MX" smtClean="0"/>
              <a:pPr/>
              <a:t>17/08/2016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Estructuras de datos (Prof. Edgardo A. Franco)</a:t>
            </a:r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03248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91767-1D29-473C-8850-A06E2AA82469}" type="datetime1">
              <a:rPr lang="es-MX" smtClean="0"/>
              <a:pPr/>
              <a:t>17/08/2016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Estructuras de datos (Prof. Edgardo A. Franco)</a:t>
            </a:r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88696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3B66-B15E-4510-A33F-E395C7D2A603}" type="datetime1">
              <a:rPr lang="es-MX" smtClean="0"/>
              <a:pPr/>
              <a:t>17/08/2016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Estructuras de datos (Prof. Edgardo A. Franco)</a:t>
            </a:r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22241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01799-B964-4A2B-B712-961CD71066DB}" type="datetime1">
              <a:rPr lang="es-MX" smtClean="0"/>
              <a:pPr/>
              <a:t>17/08/2016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MX" smtClean="0"/>
              <a:t>Estructuras de datos (Prof. Edgardo A. Franco)</a:t>
            </a:r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BFA06-222C-4F7F-9B5A-DED9CF65962D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2969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ransition>
    <p:fade/>
  </p:transition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1470025"/>
          </a:xfrm>
        </p:spPr>
        <p:txBody>
          <a:bodyPr>
            <a:normAutofit/>
          </a:bodyPr>
          <a:lstStyle/>
          <a:p>
            <a:r>
              <a:rPr lang="es-MX" sz="5400" b="1" dirty="0" smtClean="0">
                <a:solidFill>
                  <a:schemeClr val="bg1"/>
                </a:solidFill>
              </a:rPr>
              <a:t>Lenguajes</a:t>
            </a:r>
            <a:endParaRPr lang="es-MX" sz="54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1</a:t>
            </a:fld>
            <a:endParaRPr lang="es-MX"/>
          </a:p>
        </p:txBody>
      </p:sp>
      <p:pic>
        <p:nvPicPr>
          <p:cNvPr id="1026" name="Picture 2" descr="https://encrypted-tbn0.gstatic.com/images?q=tbn:ANd9GcQnnVNCX5xBw5jzLwPtaC7CpUcXOx3LsPTAAsLaG-MelJaOujTMR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212976"/>
            <a:ext cx="2994450" cy="254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jegsworks.com/lessons-sp/lesson9/talkingcomputers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220324"/>
            <a:ext cx="4121508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82013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02" y="1"/>
            <a:ext cx="8432846" cy="1143000"/>
          </a:xfrm>
        </p:spPr>
        <p:txBody>
          <a:bodyPr/>
          <a:lstStyle/>
          <a:p>
            <a:r>
              <a:rPr lang="es-MX" dirty="0" smtClean="0">
                <a:solidFill>
                  <a:schemeClr val="bg1"/>
                </a:solidFill>
              </a:rPr>
              <a:t>Contenido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980728"/>
            <a:ext cx="8136904" cy="5760640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bg1"/>
                </a:solidFill>
              </a:rPr>
              <a:t>Lenguaje</a:t>
            </a:r>
          </a:p>
          <a:p>
            <a:r>
              <a:rPr lang="es-MX" sz="3200" b="1" dirty="0">
                <a:solidFill>
                  <a:schemeClr val="bg1"/>
                </a:solidFill>
              </a:rPr>
              <a:t>Operaciones entre </a:t>
            </a:r>
            <a:r>
              <a:rPr lang="es-MX" sz="3200" b="1" dirty="0" smtClean="0">
                <a:solidFill>
                  <a:schemeClr val="bg1"/>
                </a:solidFill>
              </a:rPr>
              <a:t>lenguajes</a:t>
            </a:r>
          </a:p>
          <a:p>
            <a:pPr lvl="1"/>
            <a:r>
              <a:rPr lang="es-MX" sz="3000" b="1" dirty="0">
                <a:solidFill>
                  <a:schemeClr val="bg1"/>
                </a:solidFill>
              </a:rPr>
              <a:t>Unión </a:t>
            </a:r>
            <a:r>
              <a:rPr lang="es-MX" sz="3000" b="1" dirty="0" smtClean="0">
                <a:solidFill>
                  <a:schemeClr val="bg1"/>
                </a:solidFill>
              </a:rPr>
              <a:t>o alternativa</a:t>
            </a:r>
          </a:p>
          <a:p>
            <a:pPr lvl="1"/>
            <a:r>
              <a:rPr lang="es-MX" sz="3000" b="1" dirty="0" smtClean="0">
                <a:solidFill>
                  <a:schemeClr val="bg1"/>
                </a:solidFill>
              </a:rPr>
              <a:t>Concatenación</a:t>
            </a:r>
          </a:p>
          <a:p>
            <a:pPr lvl="1"/>
            <a:r>
              <a:rPr lang="es-MX" sz="3000" b="1" dirty="0">
                <a:solidFill>
                  <a:schemeClr val="bg1"/>
                </a:solidFill>
              </a:rPr>
              <a:t>Potencia de un </a:t>
            </a:r>
            <a:r>
              <a:rPr lang="es-MX" sz="3000" b="1" dirty="0" smtClean="0">
                <a:solidFill>
                  <a:schemeClr val="bg1"/>
                </a:solidFill>
              </a:rPr>
              <a:t>lenguaje</a:t>
            </a:r>
          </a:p>
          <a:p>
            <a:pPr lvl="1"/>
            <a:r>
              <a:rPr lang="es-MX" sz="3000" b="1" dirty="0">
                <a:solidFill>
                  <a:schemeClr val="bg1"/>
                </a:solidFill>
              </a:rPr>
              <a:t>Cierre o clausura positiva</a:t>
            </a:r>
            <a:endParaRPr lang="es-MX" sz="3000" b="1" dirty="0" smtClean="0">
              <a:solidFill>
                <a:schemeClr val="bg1"/>
              </a:solidFill>
            </a:endParaRPr>
          </a:p>
          <a:p>
            <a:pPr lvl="1"/>
            <a:r>
              <a:rPr lang="es-MX" sz="3000" b="1" dirty="0">
                <a:solidFill>
                  <a:schemeClr val="bg1"/>
                </a:solidFill>
              </a:rPr>
              <a:t>Cierre u operación estrella (cerradura de </a:t>
            </a:r>
            <a:r>
              <a:rPr lang="es-MX" sz="3000" b="1" dirty="0" err="1">
                <a:solidFill>
                  <a:schemeClr val="bg1"/>
                </a:solidFill>
              </a:rPr>
              <a:t>Kleene</a:t>
            </a:r>
            <a:r>
              <a:rPr lang="es-MX" sz="3000" b="1" dirty="0" smtClean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es-MX" sz="3000" b="1" dirty="0">
                <a:solidFill>
                  <a:schemeClr val="bg1"/>
                </a:solidFill>
              </a:rPr>
              <a:t>Reflexión de lenguajes</a:t>
            </a:r>
            <a:endParaRPr lang="es-MX" sz="3000" b="1" dirty="0" smtClean="0">
              <a:solidFill>
                <a:schemeClr val="bg1"/>
              </a:solidFill>
            </a:endParaRPr>
          </a:p>
          <a:p>
            <a:r>
              <a:rPr lang="es-MX" sz="3200" b="1" dirty="0" smtClean="0">
                <a:solidFill>
                  <a:schemeClr val="bg1"/>
                </a:solidFill>
              </a:rPr>
              <a:t>Ejercicios: </a:t>
            </a:r>
            <a:r>
              <a:rPr lang="es-MX" sz="3200" b="1" dirty="0">
                <a:solidFill>
                  <a:schemeClr val="bg1"/>
                </a:solidFill>
              </a:rPr>
              <a:t>Lenguajes</a:t>
            </a:r>
          </a:p>
          <a:p>
            <a:endParaRPr lang="es-MX" sz="3200" dirty="0" smtClean="0">
              <a:solidFill>
                <a:prstClr val="black"/>
              </a:solidFill>
            </a:endParaRPr>
          </a:p>
          <a:p>
            <a:pPr marL="114300" indent="0">
              <a:buNone/>
            </a:pPr>
            <a:endParaRPr lang="es-MX" sz="3200" dirty="0">
              <a:solidFill>
                <a:prstClr val="black"/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044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8433048" cy="980727"/>
          </a:xfrm>
        </p:spPr>
        <p:txBody>
          <a:bodyPr>
            <a:normAutofit/>
          </a:bodyPr>
          <a:lstStyle/>
          <a:p>
            <a:pPr eaLnBrk="1" hangingPunct="1"/>
            <a:r>
              <a:rPr lang="es-MX" sz="4600" dirty="0" smtClean="0">
                <a:solidFill>
                  <a:schemeClr val="bg1"/>
                </a:solidFill>
              </a:rPr>
              <a:t>Lenguaje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7504" y="1052736"/>
                <a:ext cx="8208912" cy="5647009"/>
              </a:xfrm>
            </p:spPr>
            <p:txBody>
              <a:bodyPr>
                <a:normAutofit/>
              </a:bodyPr>
              <a:lstStyle/>
              <a:p>
                <a:pPr marL="633222" indent="-514350" algn="just">
                  <a:lnSpc>
                    <a:spcPct val="90000"/>
                  </a:lnSpc>
                </a:pPr>
                <a:r>
                  <a:rPr lang="es-MX" sz="2800" b="1" dirty="0" smtClean="0">
                    <a:solidFill>
                      <a:schemeClr val="bg1"/>
                    </a:solidFill>
                  </a:rPr>
                  <a:t>Un </a:t>
                </a:r>
                <a:r>
                  <a:rPr lang="es-MX" sz="2800" b="1" u="sng" dirty="0">
                    <a:solidFill>
                      <a:schemeClr val="bg1"/>
                    </a:solidFill>
                  </a:rPr>
                  <a:t>lenguaje es un conjunto de palabras </a:t>
                </a:r>
                <a:r>
                  <a:rPr lang="es-MX" sz="2800" b="1" i="1" dirty="0">
                    <a:solidFill>
                      <a:schemeClr val="bg1"/>
                    </a:solidFill>
                  </a:rPr>
                  <a:t>(cadenas) de un determinado alfabeto </a:t>
                </a:r>
                <a14:m>
                  <m:oMath xmlns:m="http://schemas.openxmlformats.org/officeDocument/2006/math">
                    <m:r>
                      <a:rPr lang="el-GR" sz="2800" b="1" i="1">
                        <a:solidFill>
                          <a:schemeClr val="bg1"/>
                        </a:solidFill>
                        <a:latin typeface="Cambria Math"/>
                      </a:rPr>
                      <m:t>𝜮</m:t>
                    </m:r>
                  </m:oMath>
                </a14:m>
                <a:r>
                  <a:rPr lang="es-MX" sz="2800" b="1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633222" indent="-514350" algn="just">
                  <a:lnSpc>
                    <a:spcPct val="90000"/>
                  </a:lnSpc>
                </a:pPr>
                <a:endParaRPr lang="es-MX" sz="2800" b="1" dirty="0">
                  <a:solidFill>
                    <a:schemeClr val="bg1"/>
                  </a:solidFill>
                </a:endParaRPr>
              </a:p>
              <a:p>
                <a:pPr marL="633222" indent="-514350" algn="just">
                  <a:lnSpc>
                    <a:spcPct val="90000"/>
                  </a:lnSpc>
                </a:pPr>
                <a:r>
                  <a:rPr lang="es-MX" sz="2800" b="1" dirty="0">
                    <a:solidFill>
                      <a:schemeClr val="bg1"/>
                    </a:solidFill>
                  </a:rPr>
                  <a:t>Formalmente: Se llama lenguaje sobre un alfabeto a todo subconjunto del lenguaje universal de </a:t>
                </a:r>
                <a14:m>
                  <m:oMath xmlns:m="http://schemas.openxmlformats.org/officeDocument/2006/math">
                    <m:r>
                      <a:rPr lang="el-GR" sz="2800" b="1" i="1">
                        <a:solidFill>
                          <a:schemeClr val="bg1"/>
                        </a:solidFill>
                        <a:latin typeface="Cambria Math"/>
                      </a:rPr>
                      <m:t>𝜮</m:t>
                    </m:r>
                  </m:oMath>
                </a14:m>
                <a:r>
                  <a:rPr lang="es-MX" sz="2800" b="1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633222" indent="-514350" algn="just">
                  <a:lnSpc>
                    <a:spcPct val="90000"/>
                  </a:lnSpc>
                </a:pPr>
                <a:endParaRPr lang="es-MX" sz="2800" dirty="0"/>
              </a:p>
            </p:txBody>
          </p:sp>
        </mc:Choice>
        <mc:Fallback xmlns="">
          <p:sp>
            <p:nvSpPr>
              <p:cNvPr id="410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052736"/>
                <a:ext cx="8208912" cy="5647009"/>
              </a:xfrm>
              <a:blipFill rotWithShape="1">
                <a:blip r:embed="rId2"/>
                <a:stretch>
                  <a:fillRect t="-1728" r="-148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3</a:t>
            </a:fld>
            <a:endParaRPr lang="es-MX"/>
          </a:p>
        </p:txBody>
      </p:sp>
      <p:pic>
        <p:nvPicPr>
          <p:cNvPr id="1026" name="Picture 2" descr="https://encrypted-tbn0.gstatic.com/images?q=tbn:ANd9GcR1JiLdy-rmg7-_fuKw4JWVtchCrUAB6sHQgZTGGu2vKm3EMl9DZQ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900" b="12738"/>
          <a:stretch/>
        </p:blipFill>
        <p:spPr bwMode="auto">
          <a:xfrm>
            <a:off x="733264" y="4437112"/>
            <a:ext cx="7583152" cy="186097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1 Rectángulo"/>
              <p:cNvSpPr/>
              <p:nvPr/>
            </p:nvSpPr>
            <p:spPr>
              <a:xfrm>
                <a:off x="3662724" y="3630157"/>
                <a:ext cx="1468735" cy="5355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marL="118872" indent="0" algn="just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r>
                      <a:rPr lang="es-MX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s-MX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nor/>
                      </m:rPr>
                      <a:rPr lang="el-GR" sz="3200" b="1" dirty="0">
                        <a:solidFill>
                          <a:schemeClr val="bg1"/>
                        </a:solidFill>
                      </a:rPr>
                      <m:t>Σ</m:t>
                    </m:r>
                  </m:oMath>
                </a14:m>
                <a:r>
                  <a:rPr lang="es-MX" sz="3200" b="1" dirty="0" smtClean="0">
                    <a:solidFill>
                      <a:schemeClr val="bg1"/>
                    </a:solidFill>
                  </a:rPr>
                  <a:t>*</a:t>
                </a:r>
                <a:endParaRPr lang="es-MX" sz="3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724" y="3630157"/>
                <a:ext cx="1468735" cy="53553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64478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142844" y="980728"/>
            <a:ext cx="8533612" cy="5420072"/>
          </a:xfrm>
        </p:spPr>
        <p:txBody>
          <a:bodyPr>
            <a:noAutofit/>
          </a:bodyPr>
          <a:lstStyle/>
          <a:p>
            <a:pPr marL="576072" indent="-457200" algn="just">
              <a:lnSpc>
                <a:spcPct val="90000"/>
              </a:lnSpc>
            </a:pPr>
            <a:r>
              <a:rPr lang="es-MX" sz="2600" b="1" dirty="0">
                <a:solidFill>
                  <a:schemeClr val="bg1"/>
                </a:solidFill>
              </a:rPr>
              <a:t>En particular, el conjunto vacío </a:t>
            </a:r>
            <a:r>
              <a:rPr lang="az-Cyrl-AZ" sz="2600" b="1" i="1" dirty="0">
                <a:solidFill>
                  <a:schemeClr val="bg1"/>
                </a:solidFill>
              </a:rPr>
              <a:t>Ф</a:t>
            </a:r>
            <a:r>
              <a:rPr lang="es-MX" sz="2600" b="1" dirty="0">
                <a:solidFill>
                  <a:schemeClr val="bg1"/>
                </a:solidFill>
              </a:rPr>
              <a:t> es un subconjunto de </a:t>
            </a:r>
            <a:r>
              <a:rPr lang="el-GR" sz="2600" b="1" dirty="0" smtClean="0">
                <a:solidFill>
                  <a:schemeClr val="bg1"/>
                </a:solidFill>
              </a:rPr>
              <a:t>Σ</a:t>
            </a:r>
            <a:r>
              <a:rPr lang="es-MX" sz="2600" b="1" dirty="0">
                <a:solidFill>
                  <a:schemeClr val="bg1"/>
                </a:solidFill>
              </a:rPr>
              <a:t>*</a:t>
            </a:r>
            <a:r>
              <a:rPr lang="es-MX" sz="2600" b="1" dirty="0" smtClean="0">
                <a:solidFill>
                  <a:schemeClr val="bg1"/>
                </a:solidFill>
              </a:rPr>
              <a:t> </a:t>
            </a:r>
            <a:r>
              <a:rPr lang="es-MX" sz="2600" b="1" dirty="0">
                <a:solidFill>
                  <a:schemeClr val="bg1"/>
                </a:solidFill>
              </a:rPr>
              <a:t>y se llama por ello lenguaje vacío. Este lenguaje no debe confundirse con el que tiene como único elemento la palabra vacía {</a:t>
            </a:r>
            <a:r>
              <a:rPr lang="el-GR" sz="2600" b="1" dirty="0">
                <a:solidFill>
                  <a:schemeClr val="bg1"/>
                </a:solidFill>
              </a:rPr>
              <a:t>λ</a:t>
            </a:r>
            <a:r>
              <a:rPr lang="es-MX" sz="2600" b="1" dirty="0">
                <a:solidFill>
                  <a:schemeClr val="bg1"/>
                </a:solidFill>
              </a:rPr>
              <a:t>}, que también es un subconjunto (diferente) de </a:t>
            </a:r>
            <a:r>
              <a:rPr lang="el-GR" sz="2600" b="1" dirty="0" smtClean="0">
                <a:solidFill>
                  <a:schemeClr val="bg1"/>
                </a:solidFill>
              </a:rPr>
              <a:t>Σ</a:t>
            </a:r>
            <a:r>
              <a:rPr lang="es-MX" sz="2600" b="1" dirty="0">
                <a:solidFill>
                  <a:schemeClr val="bg1"/>
                </a:solidFill>
              </a:rPr>
              <a:t>*</a:t>
            </a:r>
            <a:r>
              <a:rPr lang="es-MX" sz="2600" b="1" dirty="0" smtClean="0">
                <a:solidFill>
                  <a:schemeClr val="bg1"/>
                </a:solidFill>
              </a:rPr>
              <a:t>. </a:t>
            </a:r>
            <a:r>
              <a:rPr lang="es-MX" sz="2800" b="1" dirty="0">
                <a:solidFill>
                  <a:schemeClr val="bg1"/>
                </a:solidFill>
              </a:rPr>
              <a:t>Para distinguirlos, hay que fijarse en su carnalidad (número de símbolos</a:t>
            </a:r>
            <a:r>
              <a:rPr lang="es-MX" sz="2800" b="1" dirty="0" smtClean="0">
                <a:solidFill>
                  <a:schemeClr val="bg1"/>
                </a:solidFill>
              </a:rPr>
              <a:t>).</a:t>
            </a:r>
          </a:p>
          <a:p>
            <a:pPr marL="576072" indent="-457200" algn="just">
              <a:lnSpc>
                <a:spcPct val="90000"/>
              </a:lnSpc>
            </a:pPr>
            <a:endParaRPr lang="es-MX" sz="2800" b="1" dirty="0">
              <a:solidFill>
                <a:schemeClr val="bg1"/>
              </a:solidFill>
            </a:endParaRPr>
          </a:p>
          <a:p>
            <a:pPr marL="118872" indent="0" algn="ctr">
              <a:lnSpc>
                <a:spcPct val="90000"/>
              </a:lnSpc>
              <a:buNone/>
            </a:pPr>
            <a:r>
              <a:rPr lang="es-MX" sz="2600" b="1" dirty="0">
                <a:solidFill>
                  <a:schemeClr val="bg1"/>
                </a:solidFill>
              </a:rPr>
              <a:t>C(</a:t>
            </a:r>
            <a:r>
              <a:rPr lang="az-Cyrl-AZ" sz="2600" b="1" i="1" dirty="0">
                <a:solidFill>
                  <a:schemeClr val="bg1"/>
                </a:solidFill>
              </a:rPr>
              <a:t>Ф</a:t>
            </a:r>
            <a:r>
              <a:rPr lang="es-MX" sz="2600" b="1" dirty="0">
                <a:solidFill>
                  <a:schemeClr val="bg1"/>
                </a:solidFill>
              </a:rPr>
              <a:t>)=0</a:t>
            </a:r>
          </a:p>
          <a:p>
            <a:pPr marL="118872" indent="0" algn="ctr">
              <a:lnSpc>
                <a:spcPct val="90000"/>
              </a:lnSpc>
              <a:buNone/>
            </a:pPr>
            <a:r>
              <a:rPr lang="es-MX" sz="2600" b="1" dirty="0">
                <a:solidFill>
                  <a:schemeClr val="bg1"/>
                </a:solidFill>
              </a:rPr>
              <a:t>C({</a:t>
            </a:r>
            <a:r>
              <a:rPr lang="el-GR" sz="2600" b="1" dirty="0">
                <a:solidFill>
                  <a:schemeClr val="bg1"/>
                </a:solidFill>
              </a:rPr>
              <a:t>λ</a:t>
            </a:r>
            <a:r>
              <a:rPr lang="es-MX" sz="2600" b="1" dirty="0">
                <a:solidFill>
                  <a:schemeClr val="bg1"/>
                </a:solidFill>
              </a:rPr>
              <a:t>})=</a:t>
            </a:r>
            <a:r>
              <a:rPr lang="es-MX" sz="2600" b="1" dirty="0" smtClean="0">
                <a:solidFill>
                  <a:schemeClr val="bg1"/>
                </a:solidFill>
              </a:rPr>
              <a:t>1</a:t>
            </a:r>
            <a:endParaRPr lang="es-MX" sz="2600" b="1" dirty="0">
              <a:solidFill>
                <a:schemeClr val="bg1"/>
              </a:solidFill>
            </a:endParaRPr>
          </a:p>
        </p:txBody>
      </p:sp>
      <p:sp>
        <p:nvSpPr>
          <p:cNvPr id="9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4</a:t>
            </a:fld>
            <a:endParaRPr lang="es-MX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22995"/>
            <a:ext cx="8433048" cy="980727"/>
          </a:xfrm>
        </p:spPr>
        <p:txBody>
          <a:bodyPr>
            <a:normAutofit/>
          </a:bodyPr>
          <a:lstStyle/>
          <a:p>
            <a:pPr eaLnBrk="1" hangingPunct="1"/>
            <a:r>
              <a:rPr lang="es-MX" sz="4600" dirty="0" smtClean="0">
                <a:solidFill>
                  <a:schemeClr val="bg1"/>
                </a:solidFill>
              </a:rPr>
              <a:t>Lenguaje</a:t>
            </a:r>
          </a:p>
        </p:txBody>
      </p:sp>
    </p:spTree>
    <p:extLst>
      <p:ext uri="{BB962C8B-B14F-4D97-AF65-F5344CB8AC3E}">
        <p14:creationId xmlns:p14="http://schemas.microsoft.com/office/powerpoint/2010/main" val="40499026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142844" y="1124744"/>
            <a:ext cx="8533612" cy="5276056"/>
          </a:xfrm>
        </p:spPr>
        <p:txBody>
          <a:bodyPr>
            <a:noAutofit/>
          </a:bodyPr>
          <a:lstStyle/>
          <a:p>
            <a:pPr marL="850392" lvl="1" indent="-457200" algn="just">
              <a:lnSpc>
                <a:spcPct val="90000"/>
              </a:lnSpc>
            </a:pPr>
            <a:endParaRPr lang="es-MX" b="1" dirty="0" smtClean="0">
              <a:solidFill>
                <a:schemeClr val="bg1"/>
              </a:solidFill>
            </a:endParaRPr>
          </a:p>
          <a:p>
            <a:pPr marL="850392" lvl="1" indent="-457200" algn="just">
              <a:lnSpc>
                <a:spcPct val="90000"/>
              </a:lnSpc>
              <a:buFont typeface="Arial" pitchFamily="34" charset="0"/>
              <a:buChar char="•"/>
            </a:pPr>
            <a:r>
              <a:rPr lang="es-MX" b="1" dirty="0" smtClean="0">
                <a:solidFill>
                  <a:schemeClr val="bg1"/>
                </a:solidFill>
              </a:rPr>
              <a:t>Obsérvese </a:t>
            </a:r>
            <a:r>
              <a:rPr lang="es-MX" b="1" dirty="0">
                <a:solidFill>
                  <a:schemeClr val="bg1"/>
                </a:solidFill>
              </a:rPr>
              <a:t>que tanto </a:t>
            </a:r>
            <a:r>
              <a:rPr lang="az-Cyrl-AZ" b="1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Ф</a:t>
            </a:r>
            <a:r>
              <a:rPr lang="es-MX" b="1" dirty="0">
                <a:solidFill>
                  <a:schemeClr val="bg1"/>
                </a:solidFill>
              </a:rPr>
              <a:t> como </a:t>
            </a:r>
            <a:r>
              <a:rPr lang="es-MX" b="1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l-GR" b="1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s-MX" b="1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s-MX" b="1" dirty="0">
                <a:solidFill>
                  <a:schemeClr val="bg1"/>
                </a:solidFill>
              </a:rPr>
              <a:t> son lenguajes sobre cualquier alfabeto. </a:t>
            </a:r>
            <a:endParaRPr lang="es-MX" b="1" dirty="0" smtClean="0">
              <a:solidFill>
                <a:schemeClr val="bg1"/>
              </a:solidFill>
            </a:endParaRPr>
          </a:p>
          <a:p>
            <a:pPr marL="850392" lvl="1" indent="-457200" algn="just">
              <a:lnSpc>
                <a:spcPct val="90000"/>
              </a:lnSpc>
              <a:buFont typeface="Arial" pitchFamily="34" charset="0"/>
              <a:buChar char="•"/>
            </a:pPr>
            <a:r>
              <a:rPr lang="es-MX" b="1" dirty="0" smtClean="0">
                <a:solidFill>
                  <a:schemeClr val="bg1"/>
                </a:solidFill>
              </a:rPr>
              <a:t>Por </a:t>
            </a:r>
            <a:r>
              <a:rPr lang="es-MX" b="1" dirty="0">
                <a:solidFill>
                  <a:schemeClr val="bg1"/>
                </a:solidFill>
              </a:rPr>
              <a:t>otra parte, un alfabeto puede considerarse también como uno de los lenguajes generados por él mismo: el que contiene todas las palabras de una sola </a:t>
            </a:r>
            <a:r>
              <a:rPr lang="es-MX" b="1" dirty="0" smtClean="0">
                <a:solidFill>
                  <a:schemeClr val="bg1"/>
                </a:solidFill>
              </a:rPr>
              <a:t>letra (un solo símbolo).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9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5</a:t>
            </a:fld>
            <a:endParaRPr lang="es-MX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433048" cy="980727"/>
          </a:xfrm>
        </p:spPr>
        <p:txBody>
          <a:bodyPr>
            <a:normAutofit/>
          </a:bodyPr>
          <a:lstStyle/>
          <a:p>
            <a:pPr eaLnBrk="1" hangingPunct="1"/>
            <a:r>
              <a:rPr lang="es-MX" sz="4600" dirty="0" smtClean="0">
                <a:solidFill>
                  <a:schemeClr val="bg1"/>
                </a:solidFill>
              </a:rPr>
              <a:t>Lenguaje</a:t>
            </a:r>
          </a:p>
        </p:txBody>
      </p:sp>
    </p:spTree>
    <p:extLst>
      <p:ext uri="{BB962C8B-B14F-4D97-AF65-F5344CB8AC3E}">
        <p14:creationId xmlns:p14="http://schemas.microsoft.com/office/powerpoint/2010/main" val="40548342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531440" y="0"/>
            <a:ext cx="8433048" cy="908720"/>
          </a:xfrm>
        </p:spPr>
        <p:txBody>
          <a:bodyPr>
            <a:normAutofit/>
          </a:bodyPr>
          <a:lstStyle/>
          <a:p>
            <a:r>
              <a:rPr lang="es-MX" sz="4600" dirty="0" smtClean="0">
                <a:solidFill>
                  <a:schemeClr val="bg1"/>
                </a:solidFill>
              </a:rPr>
              <a:t>Operaciones entre lenguajes</a:t>
            </a:r>
          </a:p>
        </p:txBody>
      </p:sp>
      <p:sp>
        <p:nvSpPr>
          <p:cNvPr id="27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980728"/>
            <a:ext cx="8136904" cy="5616624"/>
          </a:xfrm>
        </p:spPr>
        <p:txBody>
          <a:bodyPr>
            <a:normAutofit/>
          </a:bodyPr>
          <a:lstStyle/>
          <a:p>
            <a:pPr marL="633222" indent="-514350" algn="just">
              <a:lnSpc>
                <a:spcPct val="90000"/>
              </a:lnSpc>
              <a:buFont typeface="+mj-lt"/>
              <a:buAutoNum type="arabicPeriod"/>
            </a:pPr>
            <a:r>
              <a:rPr lang="es-ES" sz="3200" b="1" i="1" dirty="0" smtClean="0">
                <a:solidFill>
                  <a:schemeClr val="bg1"/>
                </a:solidFill>
              </a:rPr>
              <a:t>Unión o alternativa</a:t>
            </a:r>
            <a:r>
              <a:rPr lang="es-ES" sz="2600" b="1" i="1" dirty="0" smtClean="0">
                <a:solidFill>
                  <a:schemeClr val="bg1"/>
                </a:solidFill>
              </a:rPr>
              <a:t>:  </a:t>
            </a:r>
            <a:r>
              <a:rPr lang="es-ES" sz="2600" b="1" dirty="0" smtClean="0">
                <a:solidFill>
                  <a:schemeClr val="bg1"/>
                </a:solidFill>
              </a:rPr>
              <a:t>Sean dos lenguajes definidos sobre el mismo alfabeto</a:t>
            </a:r>
            <a:r>
              <a:rPr lang="es-ES" sz="2600" b="1" dirty="0">
                <a:solidFill>
                  <a:schemeClr val="bg1"/>
                </a:solidFill>
              </a:rPr>
              <a:t>, </a:t>
            </a:r>
            <a:r>
              <a:rPr lang="es-ES" sz="2600" b="1" dirty="0" smtClean="0">
                <a:solidFill>
                  <a:schemeClr val="bg1"/>
                </a:solidFill>
              </a:rPr>
              <a:t>L1 </a:t>
            </a:r>
            <a:r>
              <a:rPr lang="es-ES" sz="2600" b="1" dirty="0" smtClean="0">
                <a:solidFill>
                  <a:schemeClr val="bg1"/>
                </a:solidFill>
                <a:latin typeface="Cambria Math"/>
                <a:ea typeface="Cambria Math"/>
              </a:rPr>
              <a:t>⊆</a:t>
            </a:r>
            <a:r>
              <a:rPr lang="es-ES" sz="2600" b="1" dirty="0" smtClean="0">
                <a:solidFill>
                  <a:schemeClr val="bg1"/>
                </a:solidFill>
              </a:rPr>
              <a:t> </a:t>
            </a:r>
            <a:r>
              <a:rPr lang="el-GR" sz="2600" b="1" dirty="0" smtClean="0">
                <a:solidFill>
                  <a:schemeClr val="bg1"/>
                </a:solidFill>
              </a:rPr>
              <a:t>Σ</a:t>
            </a:r>
            <a:r>
              <a:rPr lang="es-MX" sz="2600" b="1" dirty="0" smtClean="0">
                <a:solidFill>
                  <a:schemeClr val="bg1"/>
                </a:solidFill>
              </a:rPr>
              <a:t>*, </a:t>
            </a:r>
            <a:r>
              <a:rPr lang="es-ES" sz="2600" b="1" dirty="0" smtClean="0">
                <a:solidFill>
                  <a:schemeClr val="bg1"/>
                </a:solidFill>
              </a:rPr>
              <a:t>L2 </a:t>
            </a:r>
            <a:r>
              <a:rPr lang="es-ES" sz="2600" b="1" dirty="0" smtClean="0">
                <a:solidFill>
                  <a:schemeClr val="bg1"/>
                </a:solidFill>
                <a:latin typeface="Cambria Math"/>
                <a:ea typeface="Cambria Math"/>
              </a:rPr>
              <a:t>⊆ </a:t>
            </a:r>
            <a:r>
              <a:rPr lang="el-GR" sz="2600" b="1" dirty="0" smtClean="0">
                <a:solidFill>
                  <a:schemeClr val="bg1"/>
                </a:solidFill>
              </a:rPr>
              <a:t>Σ</a:t>
            </a:r>
            <a:r>
              <a:rPr lang="es-MX" sz="2600" b="1" dirty="0" smtClean="0">
                <a:solidFill>
                  <a:schemeClr val="bg1"/>
                </a:solidFill>
              </a:rPr>
              <a:t>*</a:t>
            </a:r>
            <a:r>
              <a:rPr lang="es-ES" sz="2600" b="1" dirty="0" smtClean="0">
                <a:solidFill>
                  <a:schemeClr val="bg1"/>
                </a:solidFill>
              </a:rPr>
              <a:t> se denomina unión de los dos lenguajes L1 </a:t>
            </a:r>
            <a:r>
              <a:rPr lang="es-MX" sz="2600" b="1" dirty="0" smtClean="0">
                <a:solidFill>
                  <a:schemeClr val="bg1"/>
                </a:solidFill>
              </a:rPr>
              <a:t>∪</a:t>
            </a:r>
            <a:r>
              <a:rPr lang="es-ES" sz="2600" b="1" dirty="0" smtClean="0">
                <a:solidFill>
                  <a:schemeClr val="bg1"/>
                </a:solidFill>
              </a:rPr>
              <a:t> </a:t>
            </a:r>
            <a:r>
              <a:rPr lang="es-ES" sz="2600" b="1" dirty="0">
                <a:solidFill>
                  <a:schemeClr val="bg1"/>
                </a:solidFill>
              </a:rPr>
              <a:t>L2 </a:t>
            </a:r>
            <a:r>
              <a:rPr lang="es-ES" sz="2600" b="1" dirty="0" smtClean="0">
                <a:solidFill>
                  <a:schemeClr val="bg1"/>
                </a:solidFill>
              </a:rPr>
              <a:t>al conjunto formado por las cadenas que pertenezcan indistintamente a uno u otro de los dos lenguajes.</a:t>
            </a:r>
          </a:p>
          <a:p>
            <a:pPr marL="633222" indent="-514350" algn="just">
              <a:lnSpc>
                <a:spcPct val="90000"/>
              </a:lnSpc>
              <a:buFont typeface="+mj-lt"/>
              <a:buAutoNum type="arabicPeriod"/>
            </a:pPr>
            <a:endParaRPr lang="es-ES" sz="2600" b="1" i="1" dirty="0" smtClean="0"/>
          </a:p>
          <a:p>
            <a:pPr marL="633222" indent="-514350" algn="just">
              <a:lnSpc>
                <a:spcPct val="90000"/>
              </a:lnSpc>
              <a:buFont typeface="+mj-lt"/>
              <a:buAutoNum type="arabicPeriod"/>
            </a:pPr>
            <a:endParaRPr lang="es-ES" sz="2600" b="1" i="1" dirty="0" smtClean="0"/>
          </a:p>
          <a:p>
            <a:pPr algn="just">
              <a:lnSpc>
                <a:spcPct val="90000"/>
              </a:lnSpc>
            </a:pPr>
            <a:endParaRPr lang="es-ES" sz="2600" i="1" dirty="0" smtClean="0"/>
          </a:p>
          <a:p>
            <a:pPr lvl="1" algn="just">
              <a:lnSpc>
                <a:spcPct val="90000"/>
              </a:lnSpc>
            </a:pPr>
            <a:endParaRPr lang="es-ES" sz="2600" dirty="0" smtClean="0"/>
          </a:p>
          <a:p>
            <a:pPr algn="just">
              <a:lnSpc>
                <a:spcPct val="90000"/>
              </a:lnSpc>
            </a:pPr>
            <a:endParaRPr lang="es-ES" sz="2600" dirty="0" smtClean="0"/>
          </a:p>
        </p:txBody>
      </p:sp>
      <p:sp>
        <p:nvSpPr>
          <p:cNvPr id="12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6</a:t>
            </a:fld>
            <a:endParaRPr lang="es-MX"/>
          </a:p>
        </p:txBody>
      </p:sp>
      <p:sp>
        <p:nvSpPr>
          <p:cNvPr id="2" name="AutoShape 2" descr="data:image/jpeg;base64,/9j/4AAQSkZJRgABAQAAAQABAAD/2wCEAAkGBg8SEBQSEBQVFBQUFBcVFxUUGBYQFRQVGBgWFBgVFxcYHCYeGBojGRQaIC8gIycqLC4sFR4xNTAqNScrLCkBCQoKDgwOGA8PFykcFxwsKSkpKSkpKSkpKSkpKSwpKSkpKSkpKSkpKSksLCksKSwsLCkpKSkpLCkpKSkpKSwpKf/AABEIAJQA2AMBIgACEQEDEQH/xAAbAAEAAgMBAQAAAAAAAAAAAAAABQYBAwQCB//EAEoQAAICAQEEBQcGCQkJAAAAAAECAAMEEQUSITEGE0FRYRQiMkJxgaEHM1JicpEjU3OCg5KisfAkNURjk6OywcIWFzRDVIS00eH/xAAYAQEAAwEAAAAAAAAAAAAAAAAAAQIDBP/EACARAQEAAgICAwEBAAAAAAAAAAABAhEDMRITIUFhUTL/2gAMAwEAAhEDEQA/APuMREBERARMEzk2ltajHrNl9i1IPWchRrz0HefAcYHZrMEymWdPrrv5vxLLVPK+8+S0EfSXXV3HaNBoe+czU7Yt+ezK6BpxTEq+IsuJPwMtMLfoXyJ8/boozfO5udYe/rzUf7oKPhMf7G1dmRnD/u8g/AtpL+nIfQdY1lBGwsxONO0cpe4W9XkoO7gygn9abatsbZo+cTHzEHPqycW8950bWs/ZGntkXjygvUStbJ6f4dtgps38a88qcleqdvsH0bOP0SdZY98TMeo1kdtPb+Pj6C19Hb0a1Bssf7Na6sR46aDtIkVZ0hyn+Zx1rH08l90+0VVhifYzLJmNvQsusaypN5c3p5RXwpqrrH951jfGeDs2w88rK91gX9yzT05C4axKguFevoZeSPtNXZ8HQibK8naCcrqrh3XVmpj+kpOg/szIvFkLZErtXS0pwyqLK9Ob1/ymr3lBvr+cgk3iZ1dqCyp1dG5MhDqfYRwlLLOxviY1mZAREQEREBERATyWhjKTtzbNuZa+Lhua6azu5OSvpb3I49B+np6T+rroOPKZN/EHVtnpm7WNi7ORbrlOllra+T4/g7L6dn9WvHjxIkXR0cpVxfm2eU39lt+6EQ89Kqj5lY1HYNeA4yWwMCqitaqUCInID4k9pOvEk8yZ8z+UjGs2jtBcCk8MbGtvbuNrKSi930APyhnR4TCbo+qxKz8m+3PKtm0OTq6Dqn+0mg1967p98s02lncCIiSEaRNOZmJUjWWHdVRqTz58gB2k9gHEwOfbGLivSwy1raoAlut03QOWup5H2cfvkBs+jaVaOMS20YnDcqvP8p3fWFNjgmpSCN0Wat9nnJfFwXtdbskabp3qqOYq7nfsa34JyGpBYywH8d0pcZl2IzYhxirGgbragW7+ouD91xbzy3aCSfq6g6yTkftHZpZhbSwrvUaBuJV159XaB6Sa93EHiJs2btEWqeBR0O7ZWdNa2010OnMHmGHAiTB2RESwTxbaqjViFHLUkAfeeE9ygfLZ/Nn6ev8Ac8jK6mxeq8qtjorKfAMD8B2eE5rdlAObaWai087K9AHP9ah82z3jXuI5j4ft4bOQUHBxsjDvNtemRebKq0HHUksx7ePsBn31OQ7fEdvbrKS+fY9bO6SsHWnLC1ux0SxdeptJ5BS3Gt/qNz9UtLDKxkUI6lLFDKw0KsNVI7QR4+E8bM2m+My03sXpYharmOrVsTotVx7QeS2HmfNbiQTjnxa+YLXExMzEIiICInPn5iVVPbY26las7MeQVQWJ9wECu9MdrWlkwsVit96lnsH9HxwdHt8HY+anjqfVnnZ+z66KlqpUKiDRQOPiTr2kniSdSZwdHcd2V8q4aXZRFjKedVen4Gnw3E01+szGTE6+PDxgT5xs75LDfdk5O0iRbdcWVaLSAqc9CQBrzA07Nzx4fR4l7jvsUzoL0QyNn35SAqcSxg9Pnbzgjh5y6cNVOhOvqiXOIk4zQRESRgyHw18psF7fM1k9QOx2HPII7fop4bx7Rps205cpjISDdrvlToVoX5wg9hbUIPF9eySddYAAUAAAAADQADgAO4ASOx6iIkhIzauK6sMmka2VjRkHA3Va6lPtg+cp79RyYyTiRRqxshLEV0O8rqGU94IBB+PKbZE4I6nIej1LA11Xcp1HXVjuG8yuB/WNpw5S0QJVflH6N352F1GPu7/Wo/ntuDdAbXjpz4y1RFm5ofN9tdHekGfUMXK8ippLKXas2O/m8RwZm4692k+h41ARFRddFUKNeegGg18eE2xIxx0E130K6sjgMrAhlPEEHmD4TZEsHRzaLI3klzFmRS1NjcTbSNAQT2uhIDdpBVu06WISo7TxnZQ9WnXVMLKieA3wCNw/VYEoe4NrLJsraKX0pamu66hhrwI15qw7GB1BHYQR2Tj5MPGjriImYSqdObOt8nw+zIt3rB30UaW2A94ZurQjuslqMpt7mzal546Y+PVSuvLetLX2EeO6tI90thN2CQERE7giIgIiICDE59o5YqpssPqVs/6oJiji2R+Etvv5hn6ms8/wVRKkjwa3rD7AndJWcmyMTqseqs81rUH7WgLfEmdciBERJCIiBF9IVK1C5eLY7rcNOZVdVtX31M498k1II1B1B7e8d8WVqwKtxVgVI7weBH3GR3Ryxji1hvSQGpj3tU7Un41mR9iSiIkhERAREQBmOjFvV3ZGP2EjIrH1bCwsA9lqFv0o75mcjvuZeLZ9JrKG9lqhx+3SnxmfLNwW6JgROLYSk7JJORnse3MIHsSmlAP2ZdpStj2a25o+jm2D71rb/VNuH/Qk4iJ1hERAREQEi+k41xXXsc11n2WW11Efc5kpIvpH8wD3X4rfdlUN/lAlSdST/HfMREBERAREQBkZsLh5Qv0cq39oJcfjaT75JmRmxPSyj35b/s1UJ/okfYk4iJIREQEREBODbJ0Wtu1MjHYe+1E/c875H7d+ZA77sf8A8ik/5SuXVFyEQInABlLx13NoZyaabzUXj6wsqFRI/Oxz98uhlR6S1dVn4t+nm3JZiOePpcL6OHdqlo/STTjush2RAidoREQEREBI3pJUWxLwvpdUzL9pRvr+0oklMMoIIPEEaEd47R90DFdoYBl5MAw9h4j989SM6OMRQKm9Khmob9GdFPvQow8GEk4gREQEREBprwkX0bO9jiz8bZbd7rLbHX9gr9wm3b2QyY9m56bjqk/KWEVp+0wPunVi461oqLyRQo9ijQfCR9jbERJCIiAiIgJxbRXesxqx62TWdPCsNaf8E7Zo2dV1meDpquNUSfC28gKPatdb6+FyynJdY0WkRAicQzIfpZsY5WI9SHdsGj1MfUurIepvZvqNfAmTEwRAqGxtpjIoS4Dd3h5yHnW4JV6z4q4ZfdO2RO1sfyHMNvLFzHG8fVpyz5oY9yWjQE9jqPpSV1nbhl5QZiIlwiIgIMRAiiDVl6+pkrofC6tSQfzqwR7alkrBH/uRfSHpJRhViy7eIZ9wBAGbkzltNR5qqpYnsAkdCUice1dqJRQ97AsqLveboSR4azdmZQrrexgSERnIGmpCgsQOOmvCNjdEhMrpSqGhUpvte+o3KtQrJVBua72/YoB1sHLWdeyNspkK5VbEatzXZXau5YjgBtCASOKsCCCddY3Bps/DZaqPQxhvt+XdSta/m1lm077EPYJLCa6cdV13RpvMXPix5k/AewATZARESQiIgIiIGvIvVEZ3ICqpZieQUDUn3ATs6J4brSbLQVtvbrnU803gAlZ8VrVVPiDIpcfynIFA41VFbLz2Mw0aujx1PnsO4KPW4W8Cc3Nlu6GYiJgEREDk2ns2rIqem5Q9dilWU9oP7j2g9hAMpWFkW4lwwsxt7X/hshv6Qg/5bn8eo5j1hoRrxn0CR+2di0ZVLU5CB0bs5FSOTKRxVh2EcRL45eNEZEr92Vk7OO5nE242uiZoBJQdi5Sj0T2dYOB7eJ4TtNyuoZCGVhqGU7wYd4I4aTrxymQ9xESwREQEqO2cDIy81lr3Fqx6DWevrd0sfJUh9zdZdd2sAajX0yOct0ayLN/AqWzMK+/ZNmJbqLq0txCzBgGasbldgJ4lWG42vx4Gec/pKb8Vseuq4ZdtZpNTVuvVOy7rO7kbnVqCW3teIHDiZYNoY92osobzlGhrcnq7F+ieB3GHYw94I5cw6T1nzAthv/6bT8KDz1J13QnDXrNd3hzPbXoQPSPHrry8PrHyK668S2vrMYWFt7eo3VJRGIBCk6eAnd0IoK+U7vWmlrg9Vl6sl1hKKLGfeAZlDAKCQOR05Sa2fj3Amy99XbgK0JFVQ7AuoG+e9259gHKd0TEIiJcIiICIj+OEBOLLynLrRQAbnGvHitScjdZ4A8APWPDv08jLsuY14gDEHR7j51NPeNQR1r/UXgPWK9tg2PsivHQhdWZjq9jcXtblvOf3AaADgAAJjnya+INuyNlpj1CtNTpqWZvSdzxZ2PaxJ1/+ATtiJyhERAREQEREDxYmoIIBBGhB4gjuI7ZT8voCai1mzLfJWJLNQw63Fc9pCc6ie9P1TwEucSZdD56+38rH4bQxLawOd2ODl0Hx83z0HDXzhwGmpnbs7pLhXgdRkVPryAcbx/NOh+Eum7IjanRHAydTfj1WE82KAOfzxo3xms5bOxyfx3ROQ/JbswcKltpHdTdbUPg0x/uww+23MbwbKvYf4pf3fg6b71Qa2MEHe5CAe88JCXdNsLeNdLNk2fisZWvbw13RugfWJ0kxj/JjslG3/JkdvpWl7SfbvEg/dLDiYFVShKkWtByVFCKPYFGglbzUUqnB2tl9i4FPe27kZTDwXjXV794jTkZL4fye4NaEBGawneOSzsckv9LrvS7uHo8OIMsoEzMrlb2Kpfs/Oo5AZVfeu7TkAeIP4Oz2jcPg00V7cx94I7dU54Cu4HHc+Ch9N783WXHSa78VHUo6hlPAqwDKR3EHgRLzlsEDrE3t0MwddUrNX5F7Mcfq1sF+E1nobX2X5Q9lx/zBmnun8Hia78hEUtYyoo5s5CKPaTwnQvQyj17Ml/A32Lr+oVM6MTophVsGWlC45O4N1g9j2EsPcZHu/BBptcWcMWuzI8axpV/avohHsJ9/KdlPRm67jl2AJ+IoLKp8LLjo9nsXcB5aEc7Luz1M8uTKjVj46VqErVUVRoqqAqqO4AcAJtiJmEREBERAREQEREBERAREQEREBERAREQEREBERAREQEREBERAREQERED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grpSp>
        <p:nvGrpSpPr>
          <p:cNvPr id="3" name="2 Grupo"/>
          <p:cNvGrpSpPr/>
          <p:nvPr/>
        </p:nvGrpSpPr>
        <p:grpSpPr>
          <a:xfrm>
            <a:off x="3854492" y="3717032"/>
            <a:ext cx="2044032" cy="1224136"/>
            <a:chOff x="940568" y="4268843"/>
            <a:chExt cx="2044032" cy="1224136"/>
          </a:xfrm>
        </p:grpSpPr>
        <p:sp>
          <p:nvSpPr>
            <p:cNvPr id="8" name="7 Rectángulo redondeado"/>
            <p:cNvSpPr/>
            <p:nvPr/>
          </p:nvSpPr>
          <p:spPr>
            <a:xfrm>
              <a:off x="940568" y="4268843"/>
              <a:ext cx="1872208" cy="122413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9" name="Picture 13"/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72680"/>
            <a:stretch/>
          </p:blipFill>
          <p:spPr bwMode="auto">
            <a:xfrm>
              <a:off x="1182507" y="4533740"/>
              <a:ext cx="1802093" cy="69434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0481717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268760"/>
            <a:ext cx="8496944" cy="5112568"/>
          </a:xfrm>
        </p:spPr>
        <p:txBody>
          <a:bodyPr>
            <a:noAutofit/>
          </a:bodyPr>
          <a:lstStyle/>
          <a:p>
            <a:pPr marL="576072" indent="-457200" algn="just">
              <a:buFont typeface="+mj-lt"/>
              <a:buAutoNum type="romanLcPeriod"/>
            </a:pPr>
            <a:endParaRPr lang="es-MX" sz="1600" b="1" dirty="0" smtClean="0">
              <a:solidFill>
                <a:schemeClr val="bg1"/>
              </a:solidFill>
            </a:endParaRPr>
          </a:p>
          <a:p>
            <a:pPr marL="930402" lvl="1" indent="-514350" algn="just">
              <a:buFont typeface="+mj-lt"/>
              <a:buAutoNum type="romanLcPeriod"/>
            </a:pPr>
            <a:r>
              <a:rPr lang="es-MX" b="1" u="sng" dirty="0" smtClean="0">
                <a:solidFill>
                  <a:schemeClr val="bg1"/>
                </a:solidFill>
              </a:rPr>
              <a:t>Operación cerrada</a:t>
            </a:r>
            <a:r>
              <a:rPr lang="es-MX" b="1" dirty="0" smtClean="0">
                <a:solidFill>
                  <a:schemeClr val="bg1"/>
                </a:solidFill>
              </a:rPr>
              <a:t>: la unión de dos lenguajes sobre el mismo alfabeto es también un lenguaje sobre dicho alfabeto.</a:t>
            </a:r>
          </a:p>
          <a:p>
            <a:pPr marL="930402" lvl="1" indent="-514350" algn="just">
              <a:buFont typeface="+mj-lt"/>
              <a:buAutoNum type="romanLcPeriod"/>
            </a:pPr>
            <a:endParaRPr lang="es-MX" b="1" dirty="0" smtClean="0">
              <a:solidFill>
                <a:schemeClr val="bg1"/>
              </a:solidFill>
            </a:endParaRPr>
          </a:p>
          <a:p>
            <a:pPr marL="873252" lvl="1" indent="-457200" algn="just">
              <a:buFont typeface="+mj-lt"/>
              <a:buAutoNum type="romanLcPeriod"/>
            </a:pPr>
            <a:endParaRPr lang="es-MX" sz="700" b="1" dirty="0" smtClean="0">
              <a:solidFill>
                <a:schemeClr val="bg1"/>
              </a:solidFill>
            </a:endParaRPr>
          </a:p>
          <a:p>
            <a:pPr marL="930402" lvl="1" indent="-514350" algn="just">
              <a:buFont typeface="+mj-lt"/>
              <a:buAutoNum type="romanLcPeriod"/>
            </a:pPr>
            <a:r>
              <a:rPr lang="es-MX" b="1" u="sng" dirty="0" smtClean="0">
                <a:solidFill>
                  <a:schemeClr val="bg1"/>
                </a:solidFill>
              </a:rPr>
              <a:t>Propiedad asociativa</a:t>
            </a:r>
            <a:r>
              <a:rPr lang="es-MX" b="1" dirty="0" smtClean="0">
                <a:solidFill>
                  <a:schemeClr val="bg1"/>
                </a:solidFill>
              </a:rPr>
              <a:t>: (</a:t>
            </a:r>
            <a:r>
              <a:rPr lang="es-ES" b="1" dirty="0" smtClean="0">
                <a:solidFill>
                  <a:schemeClr val="bg1"/>
                </a:solidFill>
              </a:rPr>
              <a:t>L</a:t>
            </a:r>
            <a:r>
              <a:rPr lang="es-ES" b="1" baseline="-25000" dirty="0" smtClean="0">
                <a:solidFill>
                  <a:schemeClr val="bg1"/>
                </a:solidFill>
              </a:rPr>
              <a:t>1</a:t>
            </a:r>
            <a:r>
              <a:rPr lang="es-MX" b="1" dirty="0">
                <a:solidFill>
                  <a:schemeClr val="bg1"/>
                </a:solidFill>
              </a:rPr>
              <a:t>∪</a:t>
            </a:r>
            <a:r>
              <a:rPr lang="es-ES" b="1" dirty="0">
                <a:solidFill>
                  <a:schemeClr val="bg1"/>
                </a:solidFill>
              </a:rPr>
              <a:t> </a:t>
            </a:r>
            <a:r>
              <a:rPr lang="es-ES" b="1" dirty="0" smtClean="0">
                <a:solidFill>
                  <a:schemeClr val="bg1"/>
                </a:solidFill>
              </a:rPr>
              <a:t>L</a:t>
            </a:r>
            <a:r>
              <a:rPr lang="es-ES" b="1" baseline="-25000" dirty="0" smtClean="0">
                <a:solidFill>
                  <a:schemeClr val="bg1"/>
                </a:solidFill>
              </a:rPr>
              <a:t>2</a:t>
            </a:r>
            <a:r>
              <a:rPr lang="es-ES" b="1" dirty="0" smtClean="0">
                <a:solidFill>
                  <a:schemeClr val="bg1"/>
                </a:solidFill>
              </a:rPr>
              <a:t>)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smtClean="0">
                <a:solidFill>
                  <a:schemeClr val="bg1"/>
                </a:solidFill>
              </a:rPr>
              <a:t>∪</a:t>
            </a:r>
            <a:r>
              <a:rPr lang="es-ES" b="1" dirty="0">
                <a:solidFill>
                  <a:schemeClr val="bg1"/>
                </a:solidFill>
              </a:rPr>
              <a:t> </a:t>
            </a:r>
            <a:r>
              <a:rPr lang="es-ES" b="1" dirty="0" smtClean="0">
                <a:solidFill>
                  <a:schemeClr val="bg1"/>
                </a:solidFill>
              </a:rPr>
              <a:t>L</a:t>
            </a:r>
            <a:r>
              <a:rPr lang="es-ES" b="1" baseline="-25000" dirty="0" smtClean="0">
                <a:solidFill>
                  <a:schemeClr val="bg1"/>
                </a:solidFill>
              </a:rPr>
              <a:t>3</a:t>
            </a:r>
            <a:r>
              <a:rPr lang="es-ES" b="1" dirty="0">
                <a:solidFill>
                  <a:schemeClr val="bg1"/>
                </a:solidFill>
              </a:rPr>
              <a:t> </a:t>
            </a:r>
            <a:r>
              <a:rPr lang="es-MX" b="1" dirty="0" smtClean="0">
                <a:solidFill>
                  <a:schemeClr val="bg1"/>
                </a:solidFill>
              </a:rPr>
              <a:t>=</a:t>
            </a:r>
            <a:r>
              <a:rPr lang="es-ES" b="1" dirty="0">
                <a:solidFill>
                  <a:schemeClr val="bg1"/>
                </a:solidFill>
              </a:rPr>
              <a:t> </a:t>
            </a:r>
            <a:r>
              <a:rPr lang="es-ES" b="1" dirty="0" smtClean="0">
                <a:solidFill>
                  <a:schemeClr val="bg1"/>
                </a:solidFill>
              </a:rPr>
              <a:t>L</a:t>
            </a:r>
            <a:r>
              <a:rPr lang="es-ES" b="1" baseline="-25000" dirty="0" smtClean="0">
                <a:solidFill>
                  <a:schemeClr val="bg1"/>
                </a:solidFill>
              </a:rPr>
              <a:t>1</a:t>
            </a:r>
            <a:r>
              <a:rPr lang="es-ES" b="1" dirty="0" smtClean="0">
                <a:solidFill>
                  <a:schemeClr val="bg1"/>
                </a:solidFill>
              </a:rPr>
              <a:t> </a:t>
            </a:r>
            <a:r>
              <a:rPr lang="es-MX" b="1" dirty="0">
                <a:solidFill>
                  <a:schemeClr val="bg1"/>
                </a:solidFill>
              </a:rPr>
              <a:t>∪</a:t>
            </a:r>
            <a:r>
              <a:rPr lang="es-ES" b="1" dirty="0">
                <a:solidFill>
                  <a:schemeClr val="bg1"/>
                </a:solidFill>
              </a:rPr>
              <a:t> </a:t>
            </a:r>
            <a:r>
              <a:rPr lang="es-MX" b="1" dirty="0">
                <a:solidFill>
                  <a:schemeClr val="bg1"/>
                </a:solidFill>
              </a:rPr>
              <a:t>(</a:t>
            </a:r>
            <a:r>
              <a:rPr lang="es-ES" b="1" dirty="0" smtClean="0">
                <a:solidFill>
                  <a:schemeClr val="bg1"/>
                </a:solidFill>
              </a:rPr>
              <a:t>L</a:t>
            </a:r>
            <a:r>
              <a:rPr lang="es-ES" b="1" baseline="-25000" dirty="0" smtClean="0">
                <a:solidFill>
                  <a:schemeClr val="bg1"/>
                </a:solidFill>
              </a:rPr>
              <a:t>2</a:t>
            </a:r>
            <a:r>
              <a:rPr lang="es-MX" b="1" dirty="0" smtClean="0">
                <a:solidFill>
                  <a:schemeClr val="bg1"/>
                </a:solidFill>
              </a:rPr>
              <a:t>∪</a:t>
            </a:r>
            <a:r>
              <a:rPr lang="es-ES" b="1" dirty="0" smtClean="0">
                <a:solidFill>
                  <a:schemeClr val="bg1"/>
                </a:solidFill>
              </a:rPr>
              <a:t> L</a:t>
            </a:r>
            <a:r>
              <a:rPr lang="es-ES" b="1" baseline="-25000" dirty="0" smtClean="0">
                <a:solidFill>
                  <a:schemeClr val="bg1"/>
                </a:solidFill>
              </a:rPr>
              <a:t>3</a:t>
            </a:r>
            <a:r>
              <a:rPr lang="es-ES" b="1" dirty="0" smtClean="0">
                <a:solidFill>
                  <a:schemeClr val="bg1"/>
                </a:solidFill>
              </a:rPr>
              <a:t>).</a:t>
            </a:r>
          </a:p>
          <a:p>
            <a:pPr marL="930402" lvl="1" indent="-514350" algn="just">
              <a:buFont typeface="+mj-lt"/>
              <a:buAutoNum type="romanLcPeriod"/>
            </a:pPr>
            <a:endParaRPr lang="es-ES" b="1" dirty="0" smtClean="0">
              <a:solidFill>
                <a:schemeClr val="bg1"/>
              </a:solidFill>
            </a:endParaRPr>
          </a:p>
          <a:p>
            <a:pPr marL="873252" lvl="1" indent="-457200" algn="just">
              <a:buFont typeface="+mj-lt"/>
              <a:buAutoNum type="romanLcPeriod"/>
            </a:pPr>
            <a:endParaRPr lang="es-ES" sz="500" b="1" dirty="0" smtClean="0">
              <a:solidFill>
                <a:schemeClr val="bg1"/>
              </a:solidFill>
            </a:endParaRPr>
          </a:p>
          <a:p>
            <a:pPr marL="930402" lvl="1" indent="-514350" algn="just">
              <a:buFont typeface="+mj-lt"/>
              <a:buAutoNum type="romanLcPeriod"/>
            </a:pPr>
            <a:r>
              <a:rPr lang="es-ES" b="1" u="sng" dirty="0" smtClean="0">
                <a:solidFill>
                  <a:schemeClr val="bg1"/>
                </a:solidFill>
              </a:rPr>
              <a:t>Existencia de un elemento neutro</a:t>
            </a:r>
            <a:r>
              <a:rPr lang="es-ES" b="1" dirty="0" smtClean="0">
                <a:solidFill>
                  <a:schemeClr val="bg1"/>
                </a:solidFill>
              </a:rPr>
              <a:t>: cualquiera que sea el lenguaje L, el lenguaje vacío </a:t>
            </a:r>
            <a:r>
              <a:rPr lang="az-Cyrl-AZ" b="1" dirty="0" smtClean="0">
                <a:solidFill>
                  <a:schemeClr val="bg1"/>
                </a:solidFill>
              </a:rPr>
              <a:t>Ф</a:t>
            </a:r>
            <a:r>
              <a:rPr lang="es-MX" b="1" dirty="0" smtClean="0">
                <a:solidFill>
                  <a:schemeClr val="bg1"/>
                </a:solidFill>
              </a:rPr>
              <a:t> cumple que </a:t>
            </a:r>
            <a:r>
              <a:rPr lang="az-Cyrl-AZ" b="1" dirty="0" smtClean="0">
                <a:solidFill>
                  <a:schemeClr val="bg1"/>
                </a:solidFill>
              </a:rPr>
              <a:t>Ф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smtClean="0">
                <a:solidFill>
                  <a:schemeClr val="bg1"/>
                </a:solidFill>
              </a:rPr>
              <a:t>∪ L = L ∪ </a:t>
            </a:r>
            <a:r>
              <a:rPr lang="az-Cyrl-AZ" b="1" dirty="0">
                <a:solidFill>
                  <a:schemeClr val="bg1"/>
                </a:solidFill>
              </a:rPr>
              <a:t>Ф </a:t>
            </a:r>
            <a:r>
              <a:rPr lang="es-MX" b="1" dirty="0" smtClean="0">
                <a:solidFill>
                  <a:schemeClr val="bg1"/>
                </a:solidFill>
              </a:rPr>
              <a:t>= L</a:t>
            </a:r>
          </a:p>
          <a:p>
            <a:pPr marL="873252" lvl="1" indent="-457200" algn="just">
              <a:buFont typeface="+mj-lt"/>
              <a:buAutoNum type="romanLcPeriod"/>
            </a:pPr>
            <a:endParaRPr lang="es-MX" sz="100" b="1" dirty="0" smtClean="0">
              <a:solidFill>
                <a:schemeClr val="bg1"/>
              </a:solidFill>
            </a:endParaRPr>
          </a:p>
          <a:p>
            <a:pPr marL="118872" indent="0" algn="just">
              <a:buNone/>
            </a:pP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9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7</a:t>
            </a:fld>
            <a:endParaRPr lang="es-MX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87626" y="404664"/>
            <a:ext cx="8432846" cy="1008112"/>
          </a:xfrm>
        </p:spPr>
        <p:txBody>
          <a:bodyPr>
            <a:normAutofit fontScale="90000"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La unión de lenguajes tiene las siguientes </a:t>
            </a:r>
            <a:r>
              <a:rPr lang="es-MX" b="1" u="sng" dirty="0">
                <a:solidFill>
                  <a:schemeClr val="bg1"/>
                </a:solidFill>
              </a:rPr>
              <a:t>propiedades</a:t>
            </a:r>
            <a:r>
              <a:rPr lang="es-MX" dirty="0">
                <a:solidFill>
                  <a:schemeClr val="bg1"/>
                </a:solidFill>
              </a:rPr>
              <a:t>:</a:t>
            </a:r>
            <a:r>
              <a:rPr lang="es-MX" b="1" dirty="0">
                <a:solidFill>
                  <a:schemeClr val="bg1"/>
                </a:solidFill>
              </a:rPr>
              <a:t/>
            </a:r>
            <a:br>
              <a:rPr lang="es-MX" b="1" dirty="0">
                <a:solidFill>
                  <a:schemeClr val="bg1"/>
                </a:solidFill>
              </a:rPr>
            </a:br>
            <a:endParaRPr lang="es-MX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3312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340768"/>
            <a:ext cx="8496944" cy="6048672"/>
          </a:xfrm>
        </p:spPr>
        <p:txBody>
          <a:bodyPr>
            <a:noAutofit/>
          </a:bodyPr>
          <a:lstStyle/>
          <a:p>
            <a:pPr marL="576072" indent="-457200" algn="just">
              <a:buFont typeface="+mj-lt"/>
              <a:buAutoNum type="romanLcPeriod"/>
            </a:pPr>
            <a:endParaRPr lang="es-MX" sz="1600" b="1" dirty="0" smtClean="0">
              <a:solidFill>
                <a:schemeClr val="bg1"/>
              </a:solidFill>
            </a:endParaRPr>
          </a:p>
          <a:p>
            <a:pPr marL="873252" lvl="1" indent="-457200" algn="just">
              <a:buFont typeface="+mj-lt"/>
              <a:buAutoNum type="romanLcPeriod"/>
            </a:pPr>
            <a:endParaRPr lang="es-MX" sz="100" b="1" dirty="0" smtClean="0">
              <a:solidFill>
                <a:schemeClr val="bg1"/>
              </a:solidFill>
            </a:endParaRPr>
          </a:p>
          <a:p>
            <a:pPr marL="987552" lvl="1" indent="-571500" algn="just">
              <a:buFont typeface="+mj-lt"/>
              <a:buAutoNum type="romanLcPeriod" startAt="4"/>
            </a:pPr>
            <a:r>
              <a:rPr lang="es-MX" b="1" u="sng" dirty="0" smtClean="0">
                <a:solidFill>
                  <a:schemeClr val="bg1"/>
                </a:solidFill>
              </a:rPr>
              <a:t>Propiedad conmutativa</a:t>
            </a:r>
            <a:r>
              <a:rPr lang="es-MX" b="1" dirty="0" smtClean="0">
                <a:solidFill>
                  <a:schemeClr val="bg1"/>
                </a:solidFill>
              </a:rPr>
              <a:t>: cualesquiera que sean </a:t>
            </a:r>
            <a:r>
              <a:rPr lang="es-ES" b="1" dirty="0" smtClean="0">
                <a:solidFill>
                  <a:schemeClr val="bg1"/>
                </a:solidFill>
              </a:rPr>
              <a:t>L</a:t>
            </a:r>
            <a:r>
              <a:rPr lang="es-ES" b="1" baseline="-25000" dirty="0" smtClean="0">
                <a:solidFill>
                  <a:schemeClr val="bg1"/>
                </a:solidFill>
              </a:rPr>
              <a:t>1</a:t>
            </a:r>
            <a:r>
              <a:rPr lang="es-MX" b="1" dirty="0" smtClean="0">
                <a:solidFill>
                  <a:schemeClr val="bg1"/>
                </a:solidFill>
              </a:rPr>
              <a:t>y</a:t>
            </a:r>
            <a:r>
              <a:rPr lang="es-ES" b="1" dirty="0" smtClean="0">
                <a:solidFill>
                  <a:schemeClr val="bg1"/>
                </a:solidFill>
              </a:rPr>
              <a:t> L</a:t>
            </a:r>
            <a:r>
              <a:rPr lang="es-ES" b="1" baseline="-25000" dirty="0" smtClean="0">
                <a:solidFill>
                  <a:schemeClr val="bg1"/>
                </a:solidFill>
              </a:rPr>
              <a:t>2, </a:t>
            </a:r>
            <a:r>
              <a:rPr lang="es-ES" b="1" dirty="0">
                <a:solidFill>
                  <a:schemeClr val="bg1"/>
                </a:solidFill>
              </a:rPr>
              <a:t>se verifica que L</a:t>
            </a:r>
            <a:r>
              <a:rPr lang="es-ES" b="1" baseline="-25000" dirty="0">
                <a:solidFill>
                  <a:schemeClr val="bg1"/>
                </a:solidFill>
              </a:rPr>
              <a:t>1</a:t>
            </a:r>
            <a:r>
              <a:rPr lang="es-MX" b="1" dirty="0">
                <a:solidFill>
                  <a:schemeClr val="bg1"/>
                </a:solidFill>
              </a:rPr>
              <a:t>∪</a:t>
            </a:r>
            <a:r>
              <a:rPr lang="es-ES" b="1" dirty="0">
                <a:solidFill>
                  <a:schemeClr val="bg1"/>
                </a:solidFill>
              </a:rPr>
              <a:t> </a:t>
            </a:r>
            <a:r>
              <a:rPr lang="es-ES" b="1" dirty="0" smtClean="0">
                <a:solidFill>
                  <a:schemeClr val="bg1"/>
                </a:solidFill>
              </a:rPr>
              <a:t>L</a:t>
            </a:r>
            <a:r>
              <a:rPr lang="es-ES" b="1" baseline="-25000" dirty="0">
                <a:solidFill>
                  <a:schemeClr val="bg1"/>
                </a:solidFill>
              </a:rPr>
              <a:t>2</a:t>
            </a:r>
            <a:r>
              <a:rPr lang="es-ES" b="1" dirty="0" smtClean="0">
                <a:solidFill>
                  <a:schemeClr val="bg1"/>
                </a:solidFill>
              </a:rPr>
              <a:t> = L</a:t>
            </a:r>
            <a:r>
              <a:rPr lang="es-ES" b="1" baseline="-25000" dirty="0" smtClean="0">
                <a:solidFill>
                  <a:schemeClr val="bg1"/>
                </a:solidFill>
              </a:rPr>
              <a:t>2</a:t>
            </a:r>
            <a:r>
              <a:rPr lang="es-MX" b="1" dirty="0" smtClean="0">
                <a:solidFill>
                  <a:schemeClr val="bg1"/>
                </a:solidFill>
              </a:rPr>
              <a:t>∪</a:t>
            </a:r>
            <a:r>
              <a:rPr lang="es-ES" b="1" dirty="0" smtClean="0">
                <a:solidFill>
                  <a:schemeClr val="bg1"/>
                </a:solidFill>
              </a:rPr>
              <a:t> L</a:t>
            </a:r>
            <a:r>
              <a:rPr lang="es-ES" b="1" baseline="-25000" dirty="0" smtClean="0">
                <a:solidFill>
                  <a:schemeClr val="bg1"/>
                </a:solidFill>
              </a:rPr>
              <a:t>1.</a:t>
            </a:r>
          </a:p>
          <a:p>
            <a:pPr marL="987552" lvl="1" indent="-571500" algn="just">
              <a:buFont typeface="+mj-lt"/>
              <a:buAutoNum type="romanLcPeriod" startAt="4"/>
            </a:pPr>
            <a:endParaRPr lang="es-ES" b="1" baseline="-25000" dirty="0" smtClean="0">
              <a:solidFill>
                <a:schemeClr val="bg1"/>
              </a:solidFill>
            </a:endParaRPr>
          </a:p>
          <a:p>
            <a:pPr marL="873252" lvl="1" indent="-457200" algn="just">
              <a:buFont typeface="+mj-lt"/>
              <a:buAutoNum type="romanLcPeriod" startAt="4"/>
            </a:pPr>
            <a:endParaRPr lang="es-ES" sz="700" b="1" dirty="0" smtClean="0">
              <a:solidFill>
                <a:schemeClr val="bg1"/>
              </a:solidFill>
            </a:endParaRPr>
          </a:p>
          <a:p>
            <a:pPr marL="930402" lvl="1" indent="-514350" algn="just">
              <a:buFont typeface="+mj-lt"/>
              <a:buAutoNum type="romanLcPeriod" startAt="4"/>
            </a:pPr>
            <a:r>
              <a:rPr lang="es-ES" b="1" u="sng" dirty="0" smtClean="0">
                <a:solidFill>
                  <a:schemeClr val="bg1"/>
                </a:solidFill>
              </a:rPr>
              <a:t>Propiedad idempotente</a:t>
            </a:r>
            <a:r>
              <a:rPr lang="es-ES" b="1" dirty="0" smtClean="0">
                <a:solidFill>
                  <a:schemeClr val="bg1"/>
                </a:solidFill>
              </a:rPr>
              <a:t>: cualquiera que sea L, se verifica </a:t>
            </a:r>
            <a:r>
              <a:rPr lang="es-ES" b="1" dirty="0">
                <a:solidFill>
                  <a:schemeClr val="bg1"/>
                </a:solidFill>
              </a:rPr>
              <a:t>que </a:t>
            </a:r>
            <a:r>
              <a:rPr lang="es-ES" b="1" dirty="0" smtClean="0">
                <a:solidFill>
                  <a:schemeClr val="bg1"/>
                </a:solidFill>
              </a:rPr>
              <a:t>  L∪ L </a:t>
            </a:r>
            <a:r>
              <a:rPr lang="es-ES" b="1" dirty="0">
                <a:solidFill>
                  <a:schemeClr val="bg1"/>
                </a:solidFill>
              </a:rPr>
              <a:t>= </a:t>
            </a:r>
            <a:r>
              <a:rPr lang="es-ES" b="1" dirty="0" smtClean="0">
                <a:solidFill>
                  <a:schemeClr val="bg1"/>
                </a:solidFill>
              </a:rPr>
              <a:t>L.</a:t>
            </a:r>
            <a:endParaRPr lang="es-ES" b="1" dirty="0">
              <a:solidFill>
                <a:schemeClr val="bg1"/>
              </a:solidFill>
            </a:endParaRPr>
          </a:p>
          <a:p>
            <a:pPr marL="576072" indent="-457200" algn="just"/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9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8</a:t>
            </a:fld>
            <a:endParaRPr lang="es-MX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87626" y="404664"/>
            <a:ext cx="8432846" cy="1143000"/>
          </a:xfrm>
        </p:spPr>
        <p:txBody>
          <a:bodyPr>
            <a:normAutofit fontScale="90000"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La unión de lenguajes tiene las siguientes </a:t>
            </a:r>
            <a:r>
              <a:rPr lang="es-MX" b="1" u="sng" dirty="0">
                <a:solidFill>
                  <a:schemeClr val="bg1"/>
                </a:solidFill>
              </a:rPr>
              <a:t>propiedades</a:t>
            </a:r>
            <a:r>
              <a:rPr lang="es-MX" dirty="0">
                <a:solidFill>
                  <a:schemeClr val="bg1"/>
                </a:solidFill>
              </a:rPr>
              <a:t>:</a:t>
            </a:r>
            <a:r>
              <a:rPr lang="es-MX" b="1" dirty="0">
                <a:solidFill>
                  <a:schemeClr val="bg1"/>
                </a:solidFill>
              </a:rPr>
              <a:t/>
            </a:r>
            <a:br>
              <a:rPr lang="es-MX" b="1" dirty="0">
                <a:solidFill>
                  <a:schemeClr val="bg1"/>
                </a:solidFill>
              </a:rPr>
            </a:br>
            <a:endParaRPr lang="es-MX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7913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908719"/>
            <a:ext cx="8015200" cy="5492081"/>
          </a:xfrm>
        </p:spPr>
        <p:txBody>
          <a:bodyPr>
            <a:normAutofit/>
          </a:bodyPr>
          <a:lstStyle/>
          <a:p>
            <a:pPr marL="633222" indent="-514350" algn="just">
              <a:lnSpc>
                <a:spcPct val="90000"/>
              </a:lnSpc>
              <a:buFont typeface="+mj-lt"/>
              <a:buAutoNum type="arabicPeriod" startAt="2"/>
            </a:pPr>
            <a:r>
              <a:rPr lang="es-ES" sz="3200" b="1" i="1" dirty="0" smtClean="0">
                <a:solidFill>
                  <a:schemeClr val="bg1"/>
                </a:solidFill>
              </a:rPr>
              <a:t>Concatenación:</a:t>
            </a:r>
            <a:r>
              <a:rPr lang="es-ES" sz="2600" b="1" i="1" dirty="0" smtClean="0">
                <a:solidFill>
                  <a:schemeClr val="bg1"/>
                </a:solidFill>
              </a:rPr>
              <a:t> </a:t>
            </a:r>
            <a:r>
              <a:rPr lang="es-ES" sz="2600" b="1" dirty="0" smtClean="0">
                <a:solidFill>
                  <a:schemeClr val="bg1"/>
                </a:solidFill>
              </a:rPr>
              <a:t>Sean dos lenguajes definidos sobre el mismo </a:t>
            </a:r>
            <a:r>
              <a:rPr lang="es-ES" sz="2600" b="1" dirty="0">
                <a:solidFill>
                  <a:schemeClr val="bg1"/>
                </a:solidFill>
              </a:rPr>
              <a:t>alfabeto </a:t>
            </a:r>
            <a:r>
              <a:rPr lang="es-ES" sz="2600" b="1" dirty="0" smtClean="0">
                <a:solidFill>
                  <a:schemeClr val="bg1"/>
                </a:solidFill>
              </a:rPr>
              <a:t>L</a:t>
            </a:r>
            <a:r>
              <a:rPr lang="es-ES" sz="2600" b="1" baseline="-25000" dirty="0" smtClean="0">
                <a:solidFill>
                  <a:schemeClr val="bg1"/>
                </a:solidFill>
              </a:rPr>
              <a:t>1</a:t>
            </a:r>
            <a:r>
              <a:rPr lang="es-ES" sz="2600" b="1" dirty="0">
                <a:solidFill>
                  <a:schemeClr val="bg1"/>
                </a:solidFill>
                <a:latin typeface="Cambria Math"/>
                <a:ea typeface="Cambria Math"/>
              </a:rPr>
              <a:t> ⊆ </a:t>
            </a:r>
            <a:r>
              <a:rPr lang="el-GR" sz="2600" b="1" dirty="0" smtClean="0">
                <a:solidFill>
                  <a:schemeClr val="bg1"/>
                </a:solidFill>
              </a:rPr>
              <a:t>Σ</a:t>
            </a:r>
            <a:r>
              <a:rPr lang="es-MX" sz="2600" b="1" dirty="0">
                <a:solidFill>
                  <a:schemeClr val="bg1"/>
                </a:solidFill>
              </a:rPr>
              <a:t>*</a:t>
            </a:r>
            <a:r>
              <a:rPr lang="es-MX" sz="2600" b="1" dirty="0" smtClean="0">
                <a:solidFill>
                  <a:schemeClr val="bg1"/>
                </a:solidFill>
              </a:rPr>
              <a:t>, </a:t>
            </a:r>
            <a:r>
              <a:rPr lang="es-ES" sz="2600" b="1" dirty="0" smtClean="0">
                <a:solidFill>
                  <a:schemeClr val="bg1"/>
                </a:solidFill>
              </a:rPr>
              <a:t>L</a:t>
            </a:r>
            <a:r>
              <a:rPr lang="es-ES" sz="2600" b="1" baseline="-25000" dirty="0" smtClean="0">
                <a:solidFill>
                  <a:schemeClr val="bg1"/>
                </a:solidFill>
              </a:rPr>
              <a:t>2</a:t>
            </a:r>
            <a:r>
              <a:rPr lang="es-ES" sz="2600" b="1" dirty="0">
                <a:solidFill>
                  <a:schemeClr val="bg1"/>
                </a:solidFill>
                <a:latin typeface="Cambria Math"/>
                <a:ea typeface="Cambria Math"/>
              </a:rPr>
              <a:t> ⊆ </a:t>
            </a:r>
            <a:r>
              <a:rPr lang="el-GR" sz="2600" b="1" dirty="0" smtClean="0">
                <a:solidFill>
                  <a:schemeClr val="bg1"/>
                </a:solidFill>
              </a:rPr>
              <a:t>Σ</a:t>
            </a:r>
            <a:r>
              <a:rPr lang="es-MX" sz="2600" b="1" dirty="0" smtClean="0">
                <a:solidFill>
                  <a:schemeClr val="bg1"/>
                </a:solidFill>
              </a:rPr>
              <a:t>*</a:t>
            </a:r>
            <a:r>
              <a:rPr lang="es-ES" sz="2600" b="1" dirty="0" smtClean="0">
                <a:solidFill>
                  <a:schemeClr val="bg1"/>
                </a:solidFill>
              </a:rPr>
              <a:t>, se denomina concatenación de los dos </a:t>
            </a:r>
            <a:r>
              <a:rPr lang="es-ES" sz="2600" b="1" dirty="0">
                <a:solidFill>
                  <a:schemeClr val="bg1"/>
                </a:solidFill>
              </a:rPr>
              <a:t>lenguajes </a:t>
            </a:r>
            <a:r>
              <a:rPr lang="es-ES" sz="2600" b="1" dirty="0" smtClean="0">
                <a:solidFill>
                  <a:schemeClr val="bg1"/>
                </a:solidFill>
              </a:rPr>
              <a:t>L</a:t>
            </a:r>
            <a:r>
              <a:rPr lang="es-ES" sz="2600" b="1" baseline="-25000" dirty="0" smtClean="0">
                <a:solidFill>
                  <a:schemeClr val="bg1"/>
                </a:solidFill>
              </a:rPr>
              <a:t>1</a:t>
            </a:r>
            <a:r>
              <a:rPr lang="es-MX" sz="2800" b="1" dirty="0" smtClean="0">
                <a:solidFill>
                  <a:schemeClr val="bg1"/>
                </a:solidFill>
              </a:rPr>
              <a:t>∩</a:t>
            </a:r>
            <a:r>
              <a:rPr lang="es-ES" sz="2600" b="1" dirty="0" smtClean="0">
                <a:solidFill>
                  <a:schemeClr val="bg1"/>
                </a:solidFill>
              </a:rPr>
              <a:t> </a:t>
            </a:r>
            <a:r>
              <a:rPr lang="es-ES" sz="2600" b="1" dirty="0">
                <a:solidFill>
                  <a:schemeClr val="bg1"/>
                </a:solidFill>
              </a:rPr>
              <a:t>L</a:t>
            </a:r>
            <a:r>
              <a:rPr lang="es-ES" sz="2600" b="1" baseline="-25000" dirty="0">
                <a:solidFill>
                  <a:schemeClr val="bg1"/>
                </a:solidFill>
              </a:rPr>
              <a:t>2</a:t>
            </a:r>
            <a:r>
              <a:rPr lang="es-ES" sz="2600" b="1" dirty="0">
                <a:solidFill>
                  <a:schemeClr val="bg1"/>
                </a:solidFill>
              </a:rPr>
              <a:t>  (</a:t>
            </a:r>
            <a:r>
              <a:rPr lang="es-ES" sz="2600" b="1" dirty="0" smtClean="0">
                <a:solidFill>
                  <a:schemeClr val="bg1"/>
                </a:solidFill>
              </a:rPr>
              <a:t>L</a:t>
            </a:r>
            <a:r>
              <a:rPr lang="es-ES" sz="2600" b="1" baseline="-25000" dirty="0" smtClean="0">
                <a:solidFill>
                  <a:schemeClr val="bg1"/>
                </a:solidFill>
              </a:rPr>
              <a:t>1</a:t>
            </a:r>
            <a:r>
              <a:rPr lang="es-ES" sz="2600" b="1" dirty="0" smtClean="0">
                <a:solidFill>
                  <a:schemeClr val="bg1"/>
                </a:solidFill>
              </a:rPr>
              <a:t>L</a:t>
            </a:r>
            <a:r>
              <a:rPr lang="es-ES" sz="2600" b="1" baseline="-25000" dirty="0" smtClean="0">
                <a:solidFill>
                  <a:schemeClr val="bg1"/>
                </a:solidFill>
              </a:rPr>
              <a:t>2</a:t>
            </a:r>
            <a:r>
              <a:rPr lang="es-ES" sz="2600" b="1" dirty="0" smtClean="0">
                <a:solidFill>
                  <a:schemeClr val="bg1"/>
                </a:solidFill>
              </a:rPr>
              <a:t>) al conjunto de todas las cadenas formadas concatenando una palabra del primer lenguaje con una del segundo.</a:t>
            </a:r>
            <a:endParaRPr lang="es-ES" sz="2600" b="1" i="1" dirty="0" smtClean="0">
              <a:solidFill>
                <a:schemeClr val="bg1"/>
              </a:solidFill>
            </a:endParaRPr>
          </a:p>
          <a:p>
            <a:pPr algn="just">
              <a:lnSpc>
                <a:spcPct val="90000"/>
              </a:lnSpc>
            </a:pPr>
            <a:endParaRPr lang="es-ES" sz="2600" b="1" i="1" dirty="0" smtClean="0">
              <a:solidFill>
                <a:schemeClr val="bg1"/>
              </a:solidFill>
            </a:endParaRPr>
          </a:p>
          <a:p>
            <a:pPr algn="just">
              <a:lnSpc>
                <a:spcPct val="90000"/>
              </a:lnSpc>
            </a:pPr>
            <a:endParaRPr lang="es-ES" sz="2600" b="1" i="1" dirty="0" smtClean="0">
              <a:solidFill>
                <a:schemeClr val="bg1"/>
              </a:solidFill>
            </a:endParaRPr>
          </a:p>
          <a:p>
            <a:pPr algn="just">
              <a:lnSpc>
                <a:spcPct val="90000"/>
              </a:lnSpc>
            </a:pPr>
            <a:endParaRPr lang="es-ES" sz="2600" b="1" i="1" dirty="0">
              <a:solidFill>
                <a:schemeClr val="bg1"/>
              </a:solidFill>
            </a:endParaRPr>
          </a:p>
          <a:p>
            <a:pPr lvl="1" algn="just">
              <a:lnSpc>
                <a:spcPct val="90000"/>
              </a:lnSpc>
            </a:pPr>
            <a:endParaRPr lang="es-ES" sz="2200" b="1" dirty="0" smtClean="0">
              <a:solidFill>
                <a:schemeClr val="bg1"/>
              </a:solidFill>
            </a:endParaRPr>
          </a:p>
          <a:p>
            <a:pPr lvl="1" algn="just">
              <a:lnSpc>
                <a:spcPct val="90000"/>
              </a:lnSpc>
            </a:pPr>
            <a:r>
              <a:rPr lang="es-ES" sz="2200" b="1" dirty="0" smtClean="0">
                <a:solidFill>
                  <a:schemeClr val="bg1"/>
                </a:solidFill>
              </a:rPr>
              <a:t>La definición anterior sólo es valida si L</a:t>
            </a:r>
            <a:r>
              <a:rPr lang="es-ES" sz="2200" b="1" baseline="-25000" dirty="0" smtClean="0">
                <a:solidFill>
                  <a:schemeClr val="bg1"/>
                </a:solidFill>
              </a:rPr>
              <a:t>1</a:t>
            </a:r>
            <a:r>
              <a:rPr lang="es-ES" sz="2200" b="1" dirty="0" smtClean="0">
                <a:solidFill>
                  <a:schemeClr val="bg1"/>
                </a:solidFill>
              </a:rPr>
              <a:t> y L</a:t>
            </a:r>
            <a:r>
              <a:rPr lang="es-ES" sz="2200" b="1" baseline="-25000" dirty="0" smtClean="0">
                <a:solidFill>
                  <a:schemeClr val="bg1"/>
                </a:solidFill>
              </a:rPr>
              <a:t>2</a:t>
            </a:r>
            <a:r>
              <a:rPr lang="es-ES" sz="2200" b="1" dirty="0" smtClean="0">
                <a:solidFill>
                  <a:schemeClr val="bg1"/>
                </a:solidFill>
              </a:rPr>
              <a:t> contienen al menos un elemento. Para la concatenación de L con el lenguaje vacío </a:t>
            </a:r>
            <a:r>
              <a:rPr lang="es-ES" b="1" dirty="0">
                <a:solidFill>
                  <a:schemeClr val="bg1"/>
                </a:solidFill>
              </a:rPr>
              <a:t> </a:t>
            </a:r>
            <a:r>
              <a:rPr lang="az-Cyrl-AZ" b="1" i="1" dirty="0">
                <a:solidFill>
                  <a:schemeClr val="bg1"/>
                </a:solidFill>
              </a:rPr>
              <a:t>Ф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ES" sz="2200" b="1" dirty="0" smtClean="0">
                <a:solidFill>
                  <a:schemeClr val="bg1"/>
                </a:solidFill>
              </a:rPr>
              <a:t> se tiene que: </a:t>
            </a:r>
            <a:r>
              <a:rPr lang="az-Cyrl-AZ" b="1" i="1" dirty="0" smtClean="0">
                <a:solidFill>
                  <a:schemeClr val="bg1"/>
                </a:solidFill>
              </a:rPr>
              <a:t>Ф</a:t>
            </a:r>
            <a:r>
              <a:rPr lang="es-MX" b="1" dirty="0" smtClean="0">
                <a:solidFill>
                  <a:schemeClr val="bg1"/>
                </a:solidFill>
              </a:rPr>
              <a:t>L=</a:t>
            </a:r>
            <a:r>
              <a:rPr lang="az-Cyrl-AZ" b="1" dirty="0">
                <a:solidFill>
                  <a:schemeClr val="bg1"/>
                </a:solidFill>
              </a:rPr>
              <a:t> </a:t>
            </a:r>
            <a:r>
              <a:rPr lang="es-MX" b="1" dirty="0" smtClean="0">
                <a:solidFill>
                  <a:schemeClr val="bg1"/>
                </a:solidFill>
              </a:rPr>
              <a:t>L</a:t>
            </a:r>
            <a:r>
              <a:rPr lang="az-Cyrl-AZ" b="1" i="1" dirty="0" smtClean="0">
                <a:solidFill>
                  <a:schemeClr val="bg1"/>
                </a:solidFill>
              </a:rPr>
              <a:t>Ф</a:t>
            </a:r>
            <a:r>
              <a:rPr lang="es-MX" b="1" dirty="0" smtClean="0">
                <a:solidFill>
                  <a:schemeClr val="bg1"/>
                </a:solidFill>
              </a:rPr>
              <a:t>=</a:t>
            </a:r>
            <a:r>
              <a:rPr lang="az-Cyrl-AZ" b="1" dirty="0">
                <a:solidFill>
                  <a:schemeClr val="bg1"/>
                </a:solidFill>
              </a:rPr>
              <a:t> </a:t>
            </a:r>
            <a:r>
              <a:rPr lang="az-Cyrl-AZ" b="1" i="1" dirty="0" smtClean="0">
                <a:solidFill>
                  <a:schemeClr val="bg1"/>
                </a:solidFill>
              </a:rPr>
              <a:t>Ф</a:t>
            </a:r>
            <a:endParaRPr lang="es-ES" sz="2200" b="1" i="1" dirty="0" smtClean="0">
              <a:solidFill>
                <a:schemeClr val="bg1"/>
              </a:solidFill>
            </a:endParaRPr>
          </a:p>
          <a:p>
            <a:pPr algn="just">
              <a:lnSpc>
                <a:spcPct val="90000"/>
              </a:lnSpc>
            </a:pPr>
            <a:endParaRPr lang="es-ES" sz="2600" dirty="0" smtClean="0"/>
          </a:p>
          <a:p>
            <a:pPr lvl="1" algn="just">
              <a:lnSpc>
                <a:spcPct val="90000"/>
              </a:lnSpc>
            </a:pPr>
            <a:endParaRPr lang="es-ES" sz="2600" dirty="0" smtClean="0"/>
          </a:p>
          <a:p>
            <a:pPr algn="just">
              <a:lnSpc>
                <a:spcPct val="90000"/>
              </a:lnSpc>
            </a:pPr>
            <a:endParaRPr lang="es-ES" sz="2600" dirty="0" smtClean="0"/>
          </a:p>
        </p:txBody>
      </p:sp>
      <p:sp>
        <p:nvSpPr>
          <p:cNvPr id="12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9</a:t>
            </a:fld>
            <a:endParaRPr lang="es-MX"/>
          </a:p>
        </p:txBody>
      </p:sp>
      <p:grpSp>
        <p:nvGrpSpPr>
          <p:cNvPr id="2" name="1 Grupo"/>
          <p:cNvGrpSpPr/>
          <p:nvPr/>
        </p:nvGrpSpPr>
        <p:grpSpPr>
          <a:xfrm>
            <a:off x="3819611" y="3429000"/>
            <a:ext cx="1328453" cy="1224136"/>
            <a:chOff x="899592" y="4509120"/>
            <a:chExt cx="1328453" cy="1224136"/>
          </a:xfrm>
        </p:grpSpPr>
        <p:sp>
          <p:nvSpPr>
            <p:cNvPr id="7" name="6 Rectángulo redondeado"/>
            <p:cNvSpPr/>
            <p:nvPr/>
          </p:nvSpPr>
          <p:spPr>
            <a:xfrm>
              <a:off x="899592" y="4509120"/>
              <a:ext cx="1221398" cy="122413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8" name="Picture 15"/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82377"/>
            <a:stretch/>
          </p:blipFill>
          <p:spPr bwMode="auto">
            <a:xfrm>
              <a:off x="1040260" y="4797152"/>
              <a:ext cx="1187785" cy="64807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1095316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En general AB </a:t>
            </a:r>
            <a:r>
              <a:rPr lang="es-MX" b="1" dirty="0" smtClean="0">
                <a:solidFill>
                  <a:schemeClr val="bg1"/>
                </a:solidFill>
              </a:rPr>
              <a:t>!= BA</a:t>
            </a:r>
            <a:r>
              <a:rPr lang="es-MX" b="1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es-MX" b="1" dirty="0" smtClean="0">
                <a:solidFill>
                  <a:schemeClr val="bg1"/>
                </a:solidFill>
              </a:rPr>
              <a:t>    Ejemplo </a:t>
            </a:r>
          </a:p>
          <a:p>
            <a:r>
              <a:rPr lang="es-MX" b="1" dirty="0" smtClean="0">
                <a:solidFill>
                  <a:schemeClr val="bg1"/>
                </a:solidFill>
              </a:rPr>
              <a:t>Si </a:t>
            </a:r>
            <a:r>
              <a:rPr lang="el-GR" b="1" dirty="0">
                <a:solidFill>
                  <a:schemeClr val="bg1"/>
                </a:solidFill>
              </a:rPr>
              <a:t>Σ = {</a:t>
            </a:r>
            <a:r>
              <a:rPr lang="es-MX" b="1" dirty="0">
                <a:solidFill>
                  <a:schemeClr val="bg1"/>
                </a:solidFill>
              </a:rPr>
              <a:t>a, b, c}, A = {a, ab, </a:t>
            </a:r>
            <a:r>
              <a:rPr lang="es-MX" b="1" dirty="0" err="1">
                <a:solidFill>
                  <a:schemeClr val="bg1"/>
                </a:solidFill>
              </a:rPr>
              <a:t>ac</a:t>
            </a:r>
            <a:r>
              <a:rPr lang="es-MX" b="1" dirty="0">
                <a:solidFill>
                  <a:schemeClr val="bg1"/>
                </a:solidFill>
              </a:rPr>
              <a:t>}, B = {b, b</a:t>
            </a:r>
            <a:r>
              <a:rPr lang="es-MX" b="1" baseline="30000" dirty="0">
                <a:solidFill>
                  <a:schemeClr val="bg1"/>
                </a:solidFill>
              </a:rPr>
              <a:t>2</a:t>
            </a:r>
            <a:r>
              <a:rPr lang="es-MX" b="1" dirty="0" smtClean="0">
                <a:solidFill>
                  <a:schemeClr val="bg1"/>
                </a:solidFill>
              </a:rPr>
              <a:t>}, entonces</a:t>
            </a:r>
            <a:endParaRPr lang="es-MX" b="1" dirty="0">
              <a:solidFill>
                <a:schemeClr val="bg1"/>
              </a:solidFill>
            </a:endParaRPr>
          </a:p>
          <a:p>
            <a:r>
              <a:rPr lang="es-MX" b="1" dirty="0">
                <a:solidFill>
                  <a:schemeClr val="bg1"/>
                </a:solidFill>
              </a:rPr>
              <a:t>AB = {ab, </a:t>
            </a:r>
            <a:r>
              <a:rPr lang="es-MX" b="1" dirty="0" smtClean="0">
                <a:solidFill>
                  <a:schemeClr val="bg1"/>
                </a:solidFill>
              </a:rPr>
              <a:t>ab</a:t>
            </a:r>
            <a:r>
              <a:rPr lang="es-MX" b="1" baseline="30000" dirty="0" smtClean="0">
                <a:solidFill>
                  <a:schemeClr val="bg1"/>
                </a:solidFill>
              </a:rPr>
              <a:t>2</a:t>
            </a:r>
            <a:r>
              <a:rPr lang="es-MX" b="1" dirty="0" smtClean="0">
                <a:solidFill>
                  <a:schemeClr val="bg1"/>
                </a:solidFill>
              </a:rPr>
              <a:t>, </a:t>
            </a:r>
            <a:r>
              <a:rPr lang="es-MX" b="1" u="sng" dirty="0" smtClean="0">
                <a:solidFill>
                  <a:srgbClr val="FF0000"/>
                </a:solidFill>
              </a:rPr>
              <a:t>ab</a:t>
            </a:r>
            <a:r>
              <a:rPr lang="es-MX" b="1" u="sng" baseline="30000" dirty="0" smtClean="0">
                <a:solidFill>
                  <a:srgbClr val="FF0000"/>
                </a:solidFill>
              </a:rPr>
              <a:t>2</a:t>
            </a:r>
            <a:r>
              <a:rPr lang="es-MX" b="1" dirty="0" smtClean="0">
                <a:solidFill>
                  <a:schemeClr val="bg1"/>
                </a:solidFill>
              </a:rPr>
              <a:t>, </a:t>
            </a:r>
            <a:r>
              <a:rPr lang="es-MX" b="1" dirty="0" smtClean="0">
                <a:solidFill>
                  <a:schemeClr val="bg1"/>
                </a:solidFill>
              </a:rPr>
              <a:t>ab</a:t>
            </a:r>
            <a:r>
              <a:rPr lang="es-MX" b="1" baseline="30000" dirty="0" smtClean="0">
                <a:solidFill>
                  <a:schemeClr val="bg1"/>
                </a:solidFill>
              </a:rPr>
              <a:t>3</a:t>
            </a:r>
            <a:r>
              <a:rPr lang="es-MX" b="1" dirty="0" smtClean="0">
                <a:solidFill>
                  <a:schemeClr val="bg1"/>
                </a:solidFill>
              </a:rPr>
              <a:t>, </a:t>
            </a:r>
            <a:r>
              <a:rPr lang="es-MX" b="1" dirty="0" err="1">
                <a:solidFill>
                  <a:schemeClr val="bg1"/>
                </a:solidFill>
              </a:rPr>
              <a:t>acb</a:t>
            </a:r>
            <a:r>
              <a:rPr lang="es-MX" b="1" dirty="0">
                <a:solidFill>
                  <a:schemeClr val="bg1"/>
                </a:solidFill>
              </a:rPr>
              <a:t>, acb</a:t>
            </a:r>
            <a:r>
              <a:rPr lang="es-MX" b="1" baseline="30000" dirty="0">
                <a:solidFill>
                  <a:schemeClr val="bg1"/>
                </a:solidFill>
              </a:rPr>
              <a:t>2</a:t>
            </a:r>
            <a:r>
              <a:rPr lang="es-MX" b="1" dirty="0">
                <a:solidFill>
                  <a:schemeClr val="bg1"/>
                </a:solidFill>
              </a:rPr>
              <a:t>}.</a:t>
            </a:r>
          </a:p>
          <a:p>
            <a:r>
              <a:rPr lang="es-MX" b="1" dirty="0">
                <a:solidFill>
                  <a:schemeClr val="bg1"/>
                </a:solidFill>
              </a:rPr>
              <a:t>BA = {</a:t>
            </a:r>
            <a:r>
              <a:rPr lang="es-MX" b="1" dirty="0" err="1">
                <a:solidFill>
                  <a:schemeClr val="bg1"/>
                </a:solidFill>
              </a:rPr>
              <a:t>ba</a:t>
            </a:r>
            <a:r>
              <a:rPr lang="es-MX" b="1" dirty="0">
                <a:solidFill>
                  <a:schemeClr val="bg1"/>
                </a:solidFill>
              </a:rPr>
              <a:t>, </a:t>
            </a:r>
            <a:r>
              <a:rPr lang="es-MX" b="1" dirty="0" err="1">
                <a:solidFill>
                  <a:schemeClr val="bg1"/>
                </a:solidFill>
              </a:rPr>
              <a:t>bab</a:t>
            </a:r>
            <a:r>
              <a:rPr lang="es-MX" b="1" dirty="0">
                <a:solidFill>
                  <a:schemeClr val="bg1"/>
                </a:solidFill>
              </a:rPr>
              <a:t>, </a:t>
            </a:r>
            <a:r>
              <a:rPr lang="es-MX" b="1" dirty="0" err="1">
                <a:solidFill>
                  <a:schemeClr val="bg1"/>
                </a:solidFill>
              </a:rPr>
              <a:t>bac</a:t>
            </a:r>
            <a:r>
              <a:rPr lang="es-MX" b="1" dirty="0">
                <a:solidFill>
                  <a:schemeClr val="bg1"/>
                </a:solidFill>
              </a:rPr>
              <a:t>, b</a:t>
            </a:r>
            <a:r>
              <a:rPr lang="es-MX" b="1" baseline="30000" dirty="0">
                <a:solidFill>
                  <a:schemeClr val="bg1"/>
                </a:solidFill>
              </a:rPr>
              <a:t>2</a:t>
            </a:r>
            <a:r>
              <a:rPr lang="es-MX" b="1" dirty="0">
                <a:solidFill>
                  <a:schemeClr val="bg1"/>
                </a:solidFill>
              </a:rPr>
              <a:t>a, b</a:t>
            </a:r>
            <a:r>
              <a:rPr lang="es-MX" b="1" baseline="30000" dirty="0">
                <a:solidFill>
                  <a:schemeClr val="bg1"/>
                </a:solidFill>
              </a:rPr>
              <a:t>2</a:t>
            </a:r>
            <a:r>
              <a:rPr lang="es-MX" b="1" dirty="0">
                <a:solidFill>
                  <a:schemeClr val="bg1"/>
                </a:solidFill>
              </a:rPr>
              <a:t>ab, b</a:t>
            </a:r>
            <a:r>
              <a:rPr lang="es-MX" b="1" baseline="30000" dirty="0">
                <a:solidFill>
                  <a:schemeClr val="bg1"/>
                </a:solidFill>
              </a:rPr>
              <a:t>2</a:t>
            </a:r>
            <a:r>
              <a:rPr lang="es-MX" b="1" dirty="0">
                <a:solidFill>
                  <a:schemeClr val="bg1"/>
                </a:solidFill>
              </a:rPr>
              <a:t>ac}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15277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052736"/>
            <a:ext cx="8015200" cy="5348066"/>
          </a:xfrm>
        </p:spPr>
        <p:txBody>
          <a:bodyPr>
            <a:noAutofit/>
          </a:bodyPr>
          <a:lstStyle/>
          <a:p>
            <a:pPr marL="576072" indent="-457200" algn="just"/>
            <a:r>
              <a:rPr lang="es-MX" b="1" dirty="0" smtClean="0">
                <a:solidFill>
                  <a:schemeClr val="bg1"/>
                </a:solidFill>
              </a:rPr>
              <a:t>La </a:t>
            </a:r>
            <a:r>
              <a:rPr lang="es-MX" sz="3200" b="1" dirty="0" smtClean="0">
                <a:solidFill>
                  <a:schemeClr val="bg1"/>
                </a:solidFill>
              </a:rPr>
              <a:t>concatenación</a:t>
            </a:r>
            <a:r>
              <a:rPr lang="es-MX" b="1" dirty="0" smtClean="0">
                <a:solidFill>
                  <a:schemeClr val="bg1"/>
                </a:solidFill>
              </a:rPr>
              <a:t> de lenguajes tiene las siguientes </a:t>
            </a:r>
            <a:r>
              <a:rPr lang="es-MX" b="1" u="sng" dirty="0">
                <a:solidFill>
                  <a:schemeClr val="bg1"/>
                </a:solidFill>
              </a:rPr>
              <a:t>propiedades</a:t>
            </a:r>
            <a:r>
              <a:rPr lang="es-MX" dirty="0" smtClean="0">
                <a:solidFill>
                  <a:schemeClr val="bg1"/>
                </a:solidFill>
              </a:rPr>
              <a:t>:</a:t>
            </a:r>
            <a:endParaRPr lang="es-MX" b="1" dirty="0" smtClean="0">
              <a:solidFill>
                <a:schemeClr val="bg1"/>
              </a:solidFill>
            </a:endParaRPr>
          </a:p>
          <a:p>
            <a:pPr marL="576072" indent="-457200" algn="just">
              <a:buFont typeface="+mj-lt"/>
              <a:buAutoNum type="romanLcPeriod"/>
            </a:pPr>
            <a:endParaRPr lang="es-MX" sz="1600" b="1" dirty="0" smtClean="0">
              <a:solidFill>
                <a:schemeClr val="bg1"/>
              </a:solidFill>
            </a:endParaRPr>
          </a:p>
          <a:p>
            <a:pPr marL="930402" lvl="1" indent="-514350" algn="just">
              <a:buFont typeface="+mj-lt"/>
              <a:buAutoNum type="romanLcPeriod"/>
            </a:pPr>
            <a:r>
              <a:rPr lang="es-MX" b="1" u="sng" dirty="0" smtClean="0">
                <a:solidFill>
                  <a:schemeClr val="bg1"/>
                </a:solidFill>
              </a:rPr>
              <a:t>Operación cerrada</a:t>
            </a:r>
            <a:r>
              <a:rPr lang="es-MX" b="1" dirty="0" smtClean="0">
                <a:solidFill>
                  <a:schemeClr val="bg1"/>
                </a:solidFill>
              </a:rPr>
              <a:t>: la concatenación de dos lenguajes sobre el mismo alfabeto es también un lenguaje sobre el mismo alfabeto.</a:t>
            </a:r>
          </a:p>
          <a:p>
            <a:pPr marL="873252" lvl="1" indent="-457200" algn="just">
              <a:buFont typeface="+mj-lt"/>
              <a:buAutoNum type="romanLcPeriod"/>
            </a:pPr>
            <a:endParaRPr lang="es-MX" sz="700" b="1" dirty="0" smtClean="0">
              <a:solidFill>
                <a:schemeClr val="bg1"/>
              </a:solidFill>
            </a:endParaRPr>
          </a:p>
          <a:p>
            <a:pPr marL="930402" lvl="1" indent="-514350" algn="just">
              <a:buFont typeface="+mj-lt"/>
              <a:buAutoNum type="romanLcPeriod"/>
            </a:pPr>
            <a:r>
              <a:rPr lang="es-MX" b="1" u="sng" dirty="0" smtClean="0">
                <a:solidFill>
                  <a:schemeClr val="bg1"/>
                </a:solidFill>
              </a:rPr>
              <a:t>Propiedad asociativa</a:t>
            </a:r>
            <a:r>
              <a:rPr lang="es-MX" b="1" dirty="0" smtClean="0">
                <a:solidFill>
                  <a:schemeClr val="bg1"/>
                </a:solidFill>
              </a:rPr>
              <a:t>: (</a:t>
            </a:r>
            <a:r>
              <a:rPr lang="es-ES" b="1" dirty="0" smtClean="0">
                <a:solidFill>
                  <a:schemeClr val="bg1"/>
                </a:solidFill>
              </a:rPr>
              <a:t>L</a:t>
            </a:r>
            <a:r>
              <a:rPr lang="es-ES" b="1" baseline="-25000" dirty="0" smtClean="0">
                <a:solidFill>
                  <a:schemeClr val="bg1"/>
                </a:solidFill>
              </a:rPr>
              <a:t>1</a:t>
            </a:r>
            <a:r>
              <a:rPr lang="es-ES" b="1" dirty="0" smtClean="0">
                <a:solidFill>
                  <a:schemeClr val="bg1"/>
                </a:solidFill>
              </a:rPr>
              <a:t> L</a:t>
            </a:r>
            <a:r>
              <a:rPr lang="es-ES" b="1" baseline="-25000" dirty="0" smtClean="0">
                <a:solidFill>
                  <a:schemeClr val="bg1"/>
                </a:solidFill>
              </a:rPr>
              <a:t>2</a:t>
            </a:r>
            <a:r>
              <a:rPr lang="es-ES" b="1" dirty="0" smtClean="0">
                <a:solidFill>
                  <a:schemeClr val="bg1"/>
                </a:solidFill>
              </a:rPr>
              <a:t>)L</a:t>
            </a:r>
            <a:r>
              <a:rPr lang="es-ES" b="1" baseline="-25000" dirty="0" smtClean="0">
                <a:solidFill>
                  <a:schemeClr val="bg1"/>
                </a:solidFill>
              </a:rPr>
              <a:t>3</a:t>
            </a:r>
            <a:r>
              <a:rPr lang="es-ES" b="1" dirty="0" smtClean="0">
                <a:solidFill>
                  <a:schemeClr val="bg1"/>
                </a:solidFill>
              </a:rPr>
              <a:t> </a:t>
            </a:r>
            <a:r>
              <a:rPr lang="es-MX" b="1" dirty="0" smtClean="0">
                <a:solidFill>
                  <a:schemeClr val="bg1"/>
                </a:solidFill>
              </a:rPr>
              <a:t>=</a:t>
            </a:r>
            <a:r>
              <a:rPr lang="es-ES" b="1" dirty="0">
                <a:solidFill>
                  <a:schemeClr val="bg1"/>
                </a:solidFill>
              </a:rPr>
              <a:t> </a:t>
            </a:r>
            <a:r>
              <a:rPr lang="es-ES" b="1" dirty="0" smtClean="0">
                <a:solidFill>
                  <a:schemeClr val="bg1"/>
                </a:solidFill>
              </a:rPr>
              <a:t>L</a:t>
            </a:r>
            <a:r>
              <a:rPr lang="es-ES" b="1" baseline="-25000" dirty="0" smtClean="0">
                <a:solidFill>
                  <a:schemeClr val="bg1"/>
                </a:solidFill>
              </a:rPr>
              <a:t>1</a:t>
            </a:r>
            <a:r>
              <a:rPr lang="es-MX" b="1" dirty="0" smtClean="0">
                <a:solidFill>
                  <a:schemeClr val="bg1"/>
                </a:solidFill>
              </a:rPr>
              <a:t>(</a:t>
            </a:r>
            <a:r>
              <a:rPr lang="es-ES" b="1" dirty="0" smtClean="0">
                <a:solidFill>
                  <a:schemeClr val="bg1"/>
                </a:solidFill>
              </a:rPr>
              <a:t>L</a:t>
            </a:r>
            <a:r>
              <a:rPr lang="es-ES" b="1" baseline="-25000" dirty="0" smtClean="0">
                <a:solidFill>
                  <a:schemeClr val="bg1"/>
                </a:solidFill>
              </a:rPr>
              <a:t>2</a:t>
            </a:r>
            <a:r>
              <a:rPr lang="es-ES" b="1" dirty="0" smtClean="0">
                <a:solidFill>
                  <a:schemeClr val="bg1"/>
                </a:solidFill>
              </a:rPr>
              <a:t>L</a:t>
            </a:r>
            <a:r>
              <a:rPr lang="es-ES" b="1" baseline="-25000" dirty="0" smtClean="0">
                <a:solidFill>
                  <a:schemeClr val="bg1"/>
                </a:solidFill>
              </a:rPr>
              <a:t>3</a:t>
            </a:r>
            <a:r>
              <a:rPr lang="es-ES" b="1" dirty="0" smtClean="0">
                <a:solidFill>
                  <a:schemeClr val="bg1"/>
                </a:solidFill>
              </a:rPr>
              <a:t>).</a:t>
            </a:r>
          </a:p>
          <a:p>
            <a:pPr marL="873252" lvl="1" indent="-457200" algn="just">
              <a:buFont typeface="+mj-lt"/>
              <a:buAutoNum type="romanLcPeriod"/>
            </a:pPr>
            <a:endParaRPr lang="es-ES" sz="700" b="1" dirty="0">
              <a:solidFill>
                <a:schemeClr val="bg1"/>
              </a:solidFill>
            </a:endParaRPr>
          </a:p>
          <a:p>
            <a:pPr marL="930402" lvl="1" indent="-514350" algn="just">
              <a:buFont typeface="+mj-lt"/>
              <a:buAutoNum type="romanLcPeriod"/>
            </a:pPr>
            <a:r>
              <a:rPr lang="es-ES" b="1" u="sng" dirty="0" smtClean="0">
                <a:solidFill>
                  <a:schemeClr val="bg1"/>
                </a:solidFill>
              </a:rPr>
              <a:t>Existencia de un elemento neutro</a:t>
            </a:r>
            <a:r>
              <a:rPr lang="es-ES" b="1" dirty="0" smtClean="0">
                <a:solidFill>
                  <a:schemeClr val="bg1"/>
                </a:solidFill>
              </a:rPr>
              <a:t>: cualquiera que sea el lenguaje L, el lenguaje </a:t>
            </a:r>
            <a:r>
              <a:rPr lang="es-MX" b="1" dirty="0" smtClean="0">
                <a:solidFill>
                  <a:schemeClr val="bg1"/>
                </a:solidFill>
              </a:rPr>
              <a:t>de la palabra vacía cumple que: {</a:t>
            </a:r>
            <a:r>
              <a:rPr lang="el-GR" b="1" dirty="0">
                <a:solidFill>
                  <a:schemeClr val="bg1"/>
                </a:solidFill>
              </a:rPr>
              <a:t>λ</a:t>
            </a:r>
            <a:r>
              <a:rPr lang="es-MX" b="1" dirty="0" smtClean="0">
                <a:solidFill>
                  <a:schemeClr val="bg1"/>
                </a:solidFill>
              </a:rPr>
              <a:t>}L=L{</a:t>
            </a:r>
            <a:r>
              <a:rPr lang="el-GR" b="1" dirty="0">
                <a:solidFill>
                  <a:schemeClr val="bg1"/>
                </a:solidFill>
              </a:rPr>
              <a:t>λ</a:t>
            </a:r>
            <a:r>
              <a:rPr lang="es-MX" b="1" dirty="0" smtClean="0">
                <a:solidFill>
                  <a:schemeClr val="bg1"/>
                </a:solidFill>
              </a:rPr>
              <a:t>}=L</a:t>
            </a:r>
          </a:p>
        </p:txBody>
      </p:sp>
      <p:sp>
        <p:nvSpPr>
          <p:cNvPr id="9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74701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980727"/>
            <a:ext cx="8208912" cy="5719017"/>
          </a:xfrm>
        </p:spPr>
        <p:txBody>
          <a:bodyPr>
            <a:normAutofit/>
          </a:bodyPr>
          <a:lstStyle/>
          <a:p>
            <a:pPr marL="633222" indent="-514350" algn="just">
              <a:lnSpc>
                <a:spcPct val="90000"/>
              </a:lnSpc>
              <a:buFont typeface="+mj-lt"/>
              <a:buAutoNum type="arabicPeriod" startAt="3"/>
            </a:pPr>
            <a:r>
              <a:rPr lang="es-ES" sz="3200" b="1" i="1" dirty="0" smtClean="0">
                <a:solidFill>
                  <a:schemeClr val="bg1"/>
                </a:solidFill>
              </a:rPr>
              <a:t>Potencia de un lenguaje:  </a:t>
            </a:r>
            <a:r>
              <a:rPr lang="es-ES" sz="2600" b="1" dirty="0" smtClean="0">
                <a:solidFill>
                  <a:schemeClr val="bg1"/>
                </a:solidFill>
              </a:rPr>
              <a:t>Desde el punto de vista estricto esta no es una nueva operación, sino un caso particular de la anterior, Se denomina potencia</a:t>
            </a:r>
            <a:r>
              <a:rPr lang="es-ES" sz="2600" b="1" i="1" dirty="0" smtClean="0">
                <a:solidFill>
                  <a:schemeClr val="bg1"/>
                </a:solidFill>
              </a:rPr>
              <a:t> i-</a:t>
            </a:r>
            <a:r>
              <a:rPr lang="es-ES" sz="2600" b="1" i="1" dirty="0" err="1" smtClean="0">
                <a:solidFill>
                  <a:schemeClr val="bg1"/>
                </a:solidFill>
              </a:rPr>
              <a:t>ésima</a:t>
            </a:r>
            <a:r>
              <a:rPr lang="es-ES" sz="2600" b="1" i="1" dirty="0" smtClean="0">
                <a:solidFill>
                  <a:schemeClr val="bg1"/>
                </a:solidFill>
              </a:rPr>
              <a:t> </a:t>
            </a:r>
            <a:r>
              <a:rPr lang="es-ES" sz="2600" b="1" dirty="0" smtClean="0">
                <a:solidFill>
                  <a:schemeClr val="bg1"/>
                </a:solidFill>
              </a:rPr>
              <a:t>de un lenguaje a la operación que consiste en concatenarlo consigo mismo i-veces.</a:t>
            </a:r>
          </a:p>
          <a:p>
            <a:pPr marL="633222" indent="-514350" algn="just">
              <a:lnSpc>
                <a:spcPct val="90000"/>
              </a:lnSpc>
              <a:buFont typeface="+mj-lt"/>
              <a:buAutoNum type="arabicPeriod" startAt="3"/>
            </a:pPr>
            <a:endParaRPr lang="es-ES" sz="2600" b="1" dirty="0">
              <a:solidFill>
                <a:schemeClr val="bg1"/>
              </a:solidFill>
            </a:endParaRPr>
          </a:p>
          <a:p>
            <a:pPr marL="118872" indent="0" algn="ctr">
              <a:lnSpc>
                <a:spcPct val="90000"/>
              </a:lnSpc>
              <a:buNone/>
            </a:pPr>
            <a:r>
              <a:rPr lang="es-ES" sz="2800" b="1" dirty="0" smtClean="0">
                <a:solidFill>
                  <a:schemeClr val="bg1"/>
                </a:solidFill>
              </a:rPr>
              <a:t>L</a:t>
            </a:r>
            <a:r>
              <a:rPr lang="es-ES" sz="2800" b="1" baseline="30000" dirty="0" smtClean="0">
                <a:solidFill>
                  <a:schemeClr val="bg1"/>
                </a:solidFill>
              </a:rPr>
              <a:t>i</a:t>
            </a:r>
            <a:r>
              <a:rPr lang="es-ES" sz="2800" b="1" dirty="0" smtClean="0">
                <a:solidFill>
                  <a:schemeClr val="bg1"/>
                </a:solidFill>
              </a:rPr>
              <a:t> </a:t>
            </a:r>
            <a:r>
              <a:rPr lang="es-MX" sz="2800" b="1" dirty="0">
                <a:solidFill>
                  <a:schemeClr val="bg1"/>
                </a:solidFill>
              </a:rPr>
              <a:t>=</a:t>
            </a:r>
            <a:r>
              <a:rPr lang="es-ES" sz="2800" b="1" dirty="0">
                <a:solidFill>
                  <a:schemeClr val="bg1"/>
                </a:solidFill>
              </a:rPr>
              <a:t> </a:t>
            </a:r>
            <a:r>
              <a:rPr lang="es-ES" sz="2800" b="1" dirty="0" smtClean="0">
                <a:solidFill>
                  <a:schemeClr val="bg1"/>
                </a:solidFill>
              </a:rPr>
              <a:t>LLL…L (i veces)</a:t>
            </a:r>
          </a:p>
          <a:p>
            <a:pPr marL="850392" lvl="1" indent="-457200" algn="just">
              <a:lnSpc>
                <a:spcPct val="90000"/>
              </a:lnSpc>
            </a:pPr>
            <a:endParaRPr lang="es-ES" sz="2400" b="1" dirty="0" smtClean="0">
              <a:solidFill>
                <a:schemeClr val="bg1"/>
              </a:solidFill>
            </a:endParaRPr>
          </a:p>
          <a:p>
            <a:pPr marL="850392" lvl="1" indent="-457200" algn="just">
              <a:lnSpc>
                <a:spcPct val="90000"/>
              </a:lnSpc>
            </a:pPr>
            <a:r>
              <a:rPr lang="es-ES" b="1" dirty="0" smtClean="0">
                <a:solidFill>
                  <a:schemeClr val="bg1"/>
                </a:solidFill>
              </a:rPr>
              <a:t>Definiremos también:</a:t>
            </a:r>
          </a:p>
          <a:p>
            <a:pPr marL="1124712" lvl="2" indent="-457200" algn="just">
              <a:lnSpc>
                <a:spcPct val="90000"/>
              </a:lnSpc>
            </a:pPr>
            <a:r>
              <a:rPr lang="es-ES" b="1" dirty="0" smtClean="0">
                <a:solidFill>
                  <a:schemeClr val="bg1"/>
                </a:solidFill>
              </a:rPr>
              <a:t>L</a:t>
            </a:r>
            <a:r>
              <a:rPr lang="es-ES" b="1" baseline="30000" dirty="0" smtClean="0">
                <a:solidFill>
                  <a:schemeClr val="bg1"/>
                </a:solidFill>
              </a:rPr>
              <a:t>1</a:t>
            </a:r>
            <a:r>
              <a:rPr lang="es-ES" b="1" dirty="0" smtClean="0">
                <a:solidFill>
                  <a:schemeClr val="bg1"/>
                </a:solidFill>
              </a:rPr>
              <a:t>=L</a:t>
            </a:r>
          </a:p>
          <a:p>
            <a:pPr marL="1124712" lvl="2" indent="-457200" algn="just">
              <a:lnSpc>
                <a:spcPct val="90000"/>
              </a:lnSpc>
            </a:pPr>
            <a:r>
              <a:rPr lang="es-ES" b="1" dirty="0" smtClean="0">
                <a:solidFill>
                  <a:schemeClr val="bg1"/>
                </a:solidFill>
              </a:rPr>
              <a:t>L</a:t>
            </a:r>
            <a:r>
              <a:rPr lang="es-ES" b="1" baseline="30000" dirty="0" smtClean="0">
                <a:solidFill>
                  <a:schemeClr val="bg1"/>
                </a:solidFill>
              </a:rPr>
              <a:t>i+1</a:t>
            </a:r>
            <a:r>
              <a:rPr lang="es-ES" b="1" dirty="0" smtClean="0">
                <a:solidFill>
                  <a:schemeClr val="bg1"/>
                </a:solidFill>
              </a:rPr>
              <a:t>=L</a:t>
            </a:r>
            <a:r>
              <a:rPr lang="es-ES" b="1" baseline="30000" dirty="0" smtClean="0">
                <a:solidFill>
                  <a:schemeClr val="bg1"/>
                </a:solidFill>
              </a:rPr>
              <a:t>i </a:t>
            </a:r>
            <a:r>
              <a:rPr lang="es-ES" b="1" dirty="0" smtClean="0">
                <a:solidFill>
                  <a:schemeClr val="bg1"/>
                </a:solidFill>
              </a:rPr>
              <a:t>L=L L</a:t>
            </a:r>
            <a:r>
              <a:rPr lang="es-ES" b="1" baseline="30000" dirty="0" smtClean="0">
                <a:solidFill>
                  <a:schemeClr val="bg1"/>
                </a:solidFill>
              </a:rPr>
              <a:t>i </a:t>
            </a:r>
            <a:r>
              <a:rPr lang="es-ES" b="1" dirty="0" smtClean="0">
                <a:solidFill>
                  <a:schemeClr val="bg1"/>
                </a:solidFill>
              </a:rPr>
              <a:t> (i &gt; 0)</a:t>
            </a:r>
          </a:p>
          <a:p>
            <a:pPr marL="1124712" lvl="2" indent="-457200" algn="just">
              <a:lnSpc>
                <a:spcPct val="90000"/>
              </a:lnSpc>
            </a:pPr>
            <a:r>
              <a:rPr lang="es-ES" b="1" dirty="0" smtClean="0">
                <a:solidFill>
                  <a:schemeClr val="bg1"/>
                </a:solidFill>
              </a:rPr>
              <a:t>L</a:t>
            </a:r>
            <a:r>
              <a:rPr lang="es-ES" b="1" baseline="30000" dirty="0" smtClean="0">
                <a:solidFill>
                  <a:schemeClr val="bg1"/>
                </a:solidFill>
              </a:rPr>
              <a:t>i </a:t>
            </a:r>
            <a:r>
              <a:rPr lang="es-ES" b="1" dirty="0" err="1" smtClean="0">
                <a:solidFill>
                  <a:schemeClr val="bg1"/>
                </a:solidFill>
              </a:rPr>
              <a:t>L</a:t>
            </a:r>
            <a:r>
              <a:rPr lang="es-ES" b="1" baseline="30000" dirty="0" err="1" smtClean="0">
                <a:solidFill>
                  <a:schemeClr val="bg1"/>
                </a:solidFill>
              </a:rPr>
              <a:t>j</a:t>
            </a:r>
            <a:r>
              <a:rPr lang="es-ES" b="1" dirty="0" smtClean="0">
                <a:solidFill>
                  <a:schemeClr val="bg1"/>
                </a:solidFill>
              </a:rPr>
              <a:t>=</a:t>
            </a:r>
            <a:r>
              <a:rPr lang="es-ES" b="1" dirty="0" err="1" smtClean="0">
                <a:solidFill>
                  <a:schemeClr val="bg1"/>
                </a:solidFill>
              </a:rPr>
              <a:t>L</a:t>
            </a:r>
            <a:r>
              <a:rPr lang="es-ES" b="1" baseline="30000" dirty="0" err="1" smtClean="0">
                <a:solidFill>
                  <a:schemeClr val="bg1"/>
                </a:solidFill>
              </a:rPr>
              <a:t>i+j</a:t>
            </a:r>
            <a:r>
              <a:rPr lang="es-ES" b="1" baseline="30000" dirty="0" smtClean="0">
                <a:solidFill>
                  <a:schemeClr val="bg1"/>
                </a:solidFill>
              </a:rPr>
              <a:t> </a:t>
            </a:r>
            <a:r>
              <a:rPr lang="es-ES" b="1" dirty="0">
                <a:solidFill>
                  <a:schemeClr val="bg1"/>
                </a:solidFill>
              </a:rPr>
              <a:t>(</a:t>
            </a:r>
            <a:r>
              <a:rPr lang="es-ES" b="1" dirty="0" smtClean="0">
                <a:solidFill>
                  <a:schemeClr val="bg1"/>
                </a:solidFill>
              </a:rPr>
              <a:t>i, j </a:t>
            </a:r>
            <a:r>
              <a:rPr lang="es-ES" b="1" dirty="0">
                <a:solidFill>
                  <a:schemeClr val="bg1"/>
                </a:solidFill>
              </a:rPr>
              <a:t>&gt; 0)</a:t>
            </a:r>
          </a:p>
          <a:p>
            <a:pPr marL="1124712" lvl="2" indent="-457200" algn="just">
              <a:lnSpc>
                <a:spcPct val="90000"/>
              </a:lnSpc>
            </a:pPr>
            <a:r>
              <a:rPr lang="es-ES" b="1" dirty="0" smtClean="0">
                <a:solidFill>
                  <a:schemeClr val="bg1"/>
                </a:solidFill>
              </a:rPr>
              <a:t>L</a:t>
            </a:r>
            <a:r>
              <a:rPr lang="es-ES" b="1" baseline="30000" dirty="0" smtClean="0">
                <a:solidFill>
                  <a:schemeClr val="bg1"/>
                </a:solidFill>
              </a:rPr>
              <a:t>0</a:t>
            </a:r>
            <a:r>
              <a:rPr lang="es-MX" b="1" dirty="0" smtClean="0">
                <a:solidFill>
                  <a:schemeClr val="bg1"/>
                </a:solidFill>
              </a:rPr>
              <a:t>={</a:t>
            </a:r>
            <a:r>
              <a:rPr lang="el-GR" b="1" dirty="0" smtClean="0">
                <a:solidFill>
                  <a:schemeClr val="bg1"/>
                </a:solidFill>
              </a:rPr>
              <a:t>λ</a:t>
            </a:r>
            <a:r>
              <a:rPr lang="es-ES" b="1" dirty="0" smtClean="0">
                <a:solidFill>
                  <a:schemeClr val="bg1"/>
                </a:solidFill>
              </a:rPr>
              <a:t>}</a:t>
            </a:r>
            <a:endParaRPr lang="es-ES" b="1" dirty="0">
              <a:solidFill>
                <a:schemeClr val="bg1"/>
              </a:solidFill>
            </a:endParaRPr>
          </a:p>
          <a:p>
            <a:pPr marL="576072" indent="-457200" algn="just">
              <a:lnSpc>
                <a:spcPct val="90000"/>
              </a:lnSpc>
            </a:pPr>
            <a:endParaRPr lang="es-ES" sz="2600" dirty="0" smtClean="0"/>
          </a:p>
          <a:p>
            <a:pPr marL="633222" indent="-514350" algn="just">
              <a:lnSpc>
                <a:spcPct val="90000"/>
              </a:lnSpc>
              <a:buFont typeface="+mj-lt"/>
              <a:buAutoNum type="arabicPeriod" startAt="3"/>
            </a:pPr>
            <a:endParaRPr lang="es-ES" sz="2600" dirty="0">
              <a:latin typeface="Times New Roman" pitchFamily="18" charset="0"/>
              <a:cs typeface="Times New Roman" pitchFamily="18" charset="0"/>
            </a:endParaRPr>
          </a:p>
          <a:p>
            <a:pPr marL="633222" indent="-514350" algn="just">
              <a:lnSpc>
                <a:spcPct val="90000"/>
              </a:lnSpc>
              <a:buFont typeface="+mj-lt"/>
              <a:buAutoNum type="arabicPeriod" startAt="3"/>
            </a:pP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633222" indent="-514350" algn="just">
              <a:lnSpc>
                <a:spcPct val="90000"/>
              </a:lnSpc>
              <a:buFont typeface="+mj-lt"/>
              <a:buAutoNum type="arabicPeriod" startAt="3"/>
            </a:pPr>
            <a:endParaRPr lang="es-ES" sz="2600" b="1" i="1" dirty="0" smtClean="0"/>
          </a:p>
          <a:p>
            <a:pPr algn="just">
              <a:lnSpc>
                <a:spcPct val="90000"/>
              </a:lnSpc>
            </a:pPr>
            <a:endParaRPr lang="es-ES" sz="2600" dirty="0" smtClean="0"/>
          </a:p>
        </p:txBody>
      </p:sp>
      <p:sp>
        <p:nvSpPr>
          <p:cNvPr id="10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39433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908720"/>
            <a:ext cx="8496944" cy="5688632"/>
          </a:xfrm>
        </p:spPr>
        <p:txBody>
          <a:bodyPr>
            <a:normAutofit/>
          </a:bodyPr>
          <a:lstStyle/>
          <a:p>
            <a:pPr marL="633222" indent="-514350" algn="just">
              <a:lnSpc>
                <a:spcPct val="90000"/>
              </a:lnSpc>
              <a:buFont typeface="+mj-lt"/>
              <a:buAutoNum type="arabicPeriod" startAt="4"/>
            </a:pPr>
            <a:r>
              <a:rPr lang="es-ES" sz="3500" b="1" i="1" dirty="0" smtClean="0">
                <a:solidFill>
                  <a:schemeClr val="bg1"/>
                </a:solidFill>
              </a:rPr>
              <a:t>Cierre o clausura positiva:</a:t>
            </a:r>
            <a:r>
              <a:rPr lang="es-ES" sz="3000" b="1" i="1" dirty="0" smtClean="0">
                <a:solidFill>
                  <a:schemeClr val="bg1"/>
                </a:solidFill>
              </a:rPr>
              <a:t>  </a:t>
            </a:r>
            <a:r>
              <a:rPr lang="es-ES" sz="2600" b="1" dirty="0" smtClean="0">
                <a:solidFill>
                  <a:schemeClr val="bg1"/>
                </a:solidFill>
              </a:rPr>
              <a:t>La operación de cierre positivo de un lenguaje L es otro lenguaje </a:t>
            </a:r>
            <a:r>
              <a:rPr lang="es-MX" sz="2800" b="1" dirty="0" smtClean="0">
                <a:solidFill>
                  <a:schemeClr val="bg1"/>
                </a:solidFill>
              </a:rPr>
              <a:t>L</a:t>
            </a:r>
            <a:r>
              <a:rPr lang="es-MX" sz="2800" b="1" baseline="30000" dirty="0" smtClean="0">
                <a:solidFill>
                  <a:schemeClr val="bg1"/>
                </a:solidFill>
              </a:rPr>
              <a:t>+ </a:t>
            </a:r>
            <a:r>
              <a:rPr lang="es-ES" sz="2600" b="1" dirty="0" smtClean="0">
                <a:solidFill>
                  <a:schemeClr val="bg1"/>
                </a:solidFill>
              </a:rPr>
              <a:t>obtenido uniendo el lenguaje L con todas sus potencias posibles, excepto </a:t>
            </a:r>
            <a:r>
              <a:rPr lang="es-MX" sz="2400" b="1" dirty="0" smtClean="0">
                <a:solidFill>
                  <a:schemeClr val="bg1"/>
                </a:solidFill>
              </a:rPr>
              <a:t>L</a:t>
            </a:r>
            <a:r>
              <a:rPr lang="es-MX" sz="2400" b="1" baseline="30000" dirty="0" smtClean="0">
                <a:solidFill>
                  <a:schemeClr val="bg1"/>
                </a:solidFill>
              </a:rPr>
              <a:t>0</a:t>
            </a:r>
            <a:r>
              <a:rPr lang="es-ES" sz="2600" b="1" dirty="0" smtClean="0">
                <a:solidFill>
                  <a:schemeClr val="bg1"/>
                </a:solidFill>
              </a:rPr>
              <a:t>.</a:t>
            </a:r>
          </a:p>
          <a:p>
            <a:pPr marL="633222" indent="-514350" algn="just">
              <a:lnSpc>
                <a:spcPct val="90000"/>
              </a:lnSpc>
              <a:buFont typeface="+mj-lt"/>
              <a:buAutoNum type="arabicPeriod" startAt="4"/>
            </a:pPr>
            <a:endParaRPr lang="es-ES" sz="26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633222" indent="-514350" algn="just">
              <a:lnSpc>
                <a:spcPct val="90000"/>
              </a:lnSpc>
              <a:buFont typeface="+mj-lt"/>
              <a:buAutoNum type="arabicPeriod" startAt="4"/>
            </a:pPr>
            <a:endParaRPr lang="es-ES" sz="26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633222" indent="-514350" algn="just">
              <a:lnSpc>
                <a:spcPct val="90000"/>
              </a:lnSpc>
              <a:buFont typeface="+mj-lt"/>
              <a:buAutoNum type="arabicPeriod" startAt="4"/>
            </a:pPr>
            <a:endParaRPr lang="es-ES" sz="26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30402" lvl="1" indent="-514350" algn="just">
              <a:lnSpc>
                <a:spcPct val="90000"/>
              </a:lnSpc>
            </a:pPr>
            <a:r>
              <a:rPr lang="es-ES" sz="2400" b="1" dirty="0">
                <a:solidFill>
                  <a:schemeClr val="bg1"/>
                </a:solidFill>
              </a:rPr>
              <a:t>Ninguna clausura positiva contiene la palabra vacía, a menos que dicha palabra este en L.</a:t>
            </a:r>
          </a:p>
          <a:p>
            <a:pPr marL="930402" lvl="1" indent="-514350" algn="just">
              <a:lnSpc>
                <a:spcPct val="90000"/>
              </a:lnSpc>
            </a:pPr>
            <a:endParaRPr lang="es-ES" sz="2400" b="1" dirty="0">
              <a:solidFill>
                <a:schemeClr val="bg1"/>
              </a:solidFill>
            </a:endParaRPr>
          </a:p>
          <a:p>
            <a:pPr marL="930402" lvl="1" indent="-514350" algn="just">
              <a:lnSpc>
                <a:spcPct val="90000"/>
              </a:lnSpc>
            </a:pPr>
            <a:r>
              <a:rPr lang="es-ES" sz="2400" b="1" dirty="0">
                <a:solidFill>
                  <a:schemeClr val="bg1"/>
                </a:solidFill>
              </a:rPr>
              <a:t>Puesto que el alfabeto </a:t>
            </a:r>
            <a:r>
              <a:rPr lang="el-GR" sz="2400" b="1" dirty="0">
                <a:solidFill>
                  <a:schemeClr val="bg1"/>
                </a:solidFill>
              </a:rPr>
              <a:t>Σ</a:t>
            </a:r>
            <a:r>
              <a:rPr lang="es-MX" sz="2400" b="1" dirty="0">
                <a:solidFill>
                  <a:schemeClr val="bg1"/>
                </a:solidFill>
              </a:rPr>
              <a:t> es también un lenguaje sobre </a:t>
            </a:r>
            <a:r>
              <a:rPr lang="el-GR" sz="2400" b="1" dirty="0">
                <a:solidFill>
                  <a:schemeClr val="bg1"/>
                </a:solidFill>
              </a:rPr>
              <a:t>Σ</a:t>
            </a:r>
            <a:r>
              <a:rPr lang="es-MX" sz="2400" b="1" dirty="0">
                <a:solidFill>
                  <a:schemeClr val="bg1"/>
                </a:solidFill>
              </a:rPr>
              <a:t>, puede aplicársele esta operación.</a:t>
            </a:r>
          </a:p>
          <a:p>
            <a:pPr marL="416052" lvl="1" indent="0" algn="ctr">
              <a:lnSpc>
                <a:spcPct val="90000"/>
              </a:lnSpc>
              <a:buNone/>
            </a:pPr>
            <a:r>
              <a:rPr lang="el-GR" sz="2400" b="1" dirty="0" smtClean="0">
                <a:solidFill>
                  <a:schemeClr val="bg1"/>
                </a:solidFill>
              </a:rPr>
              <a:t>Σ</a:t>
            </a:r>
            <a:r>
              <a:rPr lang="es-MX" sz="2400" b="1" dirty="0" smtClean="0">
                <a:solidFill>
                  <a:schemeClr val="bg1"/>
                </a:solidFill>
              </a:rPr>
              <a:t> += </a:t>
            </a:r>
            <a:r>
              <a:rPr lang="el-GR" sz="2400" b="1" dirty="0" smtClean="0">
                <a:solidFill>
                  <a:schemeClr val="bg1"/>
                </a:solidFill>
              </a:rPr>
              <a:t>Σ</a:t>
            </a:r>
            <a:r>
              <a:rPr lang="es-MX" sz="2400" b="1" dirty="0">
                <a:solidFill>
                  <a:schemeClr val="bg1"/>
                </a:solidFill>
              </a:rPr>
              <a:t>*</a:t>
            </a:r>
            <a:r>
              <a:rPr lang="es-MX" sz="2400" b="1" dirty="0" smtClean="0">
                <a:solidFill>
                  <a:schemeClr val="bg1"/>
                </a:solidFill>
              </a:rPr>
              <a:t> </a:t>
            </a:r>
            <a:r>
              <a:rPr lang="es-MX" sz="2400" b="1" dirty="0">
                <a:solidFill>
                  <a:schemeClr val="bg1"/>
                </a:solidFill>
              </a:rPr>
              <a:t>- {</a:t>
            </a:r>
            <a:r>
              <a:rPr lang="el-GR" sz="2400" b="1" dirty="0">
                <a:solidFill>
                  <a:schemeClr val="bg1"/>
                </a:solidFill>
              </a:rPr>
              <a:t>λ</a:t>
            </a:r>
            <a:r>
              <a:rPr lang="es-MX" sz="2400" b="1" dirty="0">
                <a:solidFill>
                  <a:schemeClr val="bg1"/>
                </a:solidFill>
              </a:rPr>
              <a:t>}</a:t>
            </a:r>
            <a:endParaRPr lang="es-ES" sz="2400" b="1" dirty="0">
              <a:solidFill>
                <a:schemeClr val="bg1"/>
              </a:solidFill>
            </a:endParaRPr>
          </a:p>
          <a:p>
            <a:pPr algn="just">
              <a:lnSpc>
                <a:spcPct val="90000"/>
              </a:lnSpc>
              <a:buNone/>
            </a:pPr>
            <a:endParaRPr lang="es-ES" sz="2600" i="1" dirty="0" smtClean="0">
              <a:solidFill>
                <a:schemeClr val="bg1"/>
              </a:solidFill>
            </a:endParaRPr>
          </a:p>
          <a:p>
            <a:pPr algn="just">
              <a:lnSpc>
                <a:spcPct val="90000"/>
              </a:lnSpc>
            </a:pPr>
            <a:endParaRPr lang="es-ES" sz="2600" i="1" dirty="0" smtClean="0"/>
          </a:p>
          <a:p>
            <a:pPr lvl="1" algn="just">
              <a:lnSpc>
                <a:spcPct val="90000"/>
              </a:lnSpc>
            </a:pPr>
            <a:endParaRPr lang="es-ES" sz="2600" dirty="0" smtClean="0"/>
          </a:p>
          <a:p>
            <a:pPr algn="just">
              <a:lnSpc>
                <a:spcPct val="90000"/>
              </a:lnSpc>
            </a:pPr>
            <a:endParaRPr lang="es-ES" sz="2600" dirty="0" smtClean="0"/>
          </a:p>
        </p:txBody>
      </p:sp>
      <p:sp>
        <p:nvSpPr>
          <p:cNvPr id="12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13</a:t>
            </a:fld>
            <a:endParaRPr lang="es-MX"/>
          </a:p>
        </p:txBody>
      </p:sp>
      <p:grpSp>
        <p:nvGrpSpPr>
          <p:cNvPr id="2" name="1 Grupo"/>
          <p:cNvGrpSpPr/>
          <p:nvPr/>
        </p:nvGrpSpPr>
        <p:grpSpPr>
          <a:xfrm>
            <a:off x="1084584" y="2564904"/>
            <a:ext cx="7015808" cy="1224136"/>
            <a:chOff x="611560" y="2780928"/>
            <a:chExt cx="7015808" cy="1224136"/>
          </a:xfrm>
        </p:grpSpPr>
        <p:sp>
          <p:nvSpPr>
            <p:cNvPr id="7" name="6 Rectángulo redondeado"/>
            <p:cNvSpPr/>
            <p:nvPr/>
          </p:nvSpPr>
          <p:spPr>
            <a:xfrm>
              <a:off x="611560" y="2780928"/>
              <a:ext cx="7015808" cy="122413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8" name="Picture 1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839685" y="2889510"/>
              <a:ext cx="6511752" cy="100697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5967028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908720"/>
            <a:ext cx="8015200" cy="5563518"/>
          </a:xfrm>
        </p:spPr>
        <p:txBody>
          <a:bodyPr>
            <a:normAutofit/>
          </a:bodyPr>
          <a:lstStyle/>
          <a:p>
            <a:pPr marL="633222" indent="-514350" algn="just">
              <a:lnSpc>
                <a:spcPct val="90000"/>
              </a:lnSpc>
              <a:buFont typeface="+mj-lt"/>
              <a:buAutoNum type="arabicPeriod" startAt="5"/>
            </a:pPr>
            <a:r>
              <a:rPr lang="es-ES" sz="3200" b="1" i="1" dirty="0" smtClean="0">
                <a:solidFill>
                  <a:schemeClr val="bg1"/>
                </a:solidFill>
              </a:rPr>
              <a:t>Cierre u operación </a:t>
            </a:r>
            <a:r>
              <a:rPr lang="es-ES" sz="3200" b="1" i="1" dirty="0">
                <a:solidFill>
                  <a:schemeClr val="bg1"/>
                </a:solidFill>
              </a:rPr>
              <a:t>estrella (cerradura de </a:t>
            </a:r>
            <a:r>
              <a:rPr lang="es-ES" sz="3200" b="1" i="1" dirty="0" err="1" smtClean="0">
                <a:solidFill>
                  <a:schemeClr val="bg1"/>
                </a:solidFill>
              </a:rPr>
              <a:t>Kleene</a:t>
            </a:r>
            <a:r>
              <a:rPr lang="es-ES" sz="3200" b="1" i="1" dirty="0" smtClean="0">
                <a:solidFill>
                  <a:schemeClr val="bg1"/>
                </a:solidFill>
              </a:rPr>
              <a:t>): </a:t>
            </a:r>
            <a:r>
              <a:rPr lang="es-ES" sz="2600" b="1" dirty="0">
                <a:solidFill>
                  <a:schemeClr val="bg1"/>
                </a:solidFill>
              </a:rPr>
              <a:t>La operación cierre de un lenguaje L es otro </a:t>
            </a:r>
            <a:r>
              <a:rPr lang="es-MX" sz="2600" b="1" dirty="0">
                <a:solidFill>
                  <a:schemeClr val="bg1"/>
                </a:solidFill>
              </a:rPr>
              <a:t>L*</a:t>
            </a:r>
            <a:r>
              <a:rPr lang="es-ES" sz="2600" b="1" dirty="0">
                <a:solidFill>
                  <a:schemeClr val="bg1"/>
                </a:solidFill>
              </a:rPr>
              <a:t> obtenido uniendo el lenguaje L con todas sus potencias posibles, incluso </a:t>
            </a:r>
            <a:r>
              <a:rPr lang="es-MX" sz="2600" b="1" dirty="0">
                <a:solidFill>
                  <a:schemeClr val="bg1"/>
                </a:solidFill>
              </a:rPr>
              <a:t>L</a:t>
            </a:r>
            <a:r>
              <a:rPr lang="es-MX" sz="2600" b="1" baseline="30000" dirty="0">
                <a:solidFill>
                  <a:schemeClr val="bg1"/>
                </a:solidFill>
              </a:rPr>
              <a:t>0</a:t>
            </a:r>
            <a:r>
              <a:rPr lang="es-ES" sz="2600" b="1" dirty="0">
                <a:solidFill>
                  <a:schemeClr val="bg1"/>
                </a:solidFill>
              </a:rPr>
              <a:t>.</a:t>
            </a:r>
          </a:p>
          <a:p>
            <a:pPr marL="633222" indent="-514350" algn="just">
              <a:lnSpc>
                <a:spcPct val="90000"/>
              </a:lnSpc>
              <a:buFont typeface="+mj-lt"/>
              <a:buAutoNum type="arabicPeriod" startAt="5"/>
            </a:pPr>
            <a:endParaRPr lang="es-ES" sz="2600" b="1" dirty="0">
              <a:solidFill>
                <a:schemeClr val="bg1"/>
              </a:solidFill>
            </a:endParaRPr>
          </a:p>
          <a:p>
            <a:pPr marL="633222" indent="-514350" algn="just">
              <a:lnSpc>
                <a:spcPct val="90000"/>
              </a:lnSpc>
              <a:buFont typeface="+mj-lt"/>
              <a:buAutoNum type="arabicPeriod" startAt="5"/>
            </a:pPr>
            <a:endParaRPr lang="es-ES" sz="2600" b="1" dirty="0">
              <a:solidFill>
                <a:schemeClr val="bg1"/>
              </a:solidFill>
            </a:endParaRPr>
          </a:p>
          <a:p>
            <a:pPr marL="633222" indent="-514350" algn="just">
              <a:lnSpc>
                <a:spcPct val="90000"/>
              </a:lnSpc>
            </a:pPr>
            <a:endParaRPr lang="es-ES" sz="2600" b="1" dirty="0">
              <a:solidFill>
                <a:schemeClr val="bg1"/>
              </a:solidFill>
            </a:endParaRPr>
          </a:p>
          <a:p>
            <a:pPr marL="633222" indent="-514350" algn="just">
              <a:lnSpc>
                <a:spcPct val="90000"/>
              </a:lnSpc>
            </a:pPr>
            <a:endParaRPr lang="es-ES" sz="2600" b="1" dirty="0">
              <a:solidFill>
                <a:schemeClr val="bg1"/>
              </a:solidFill>
            </a:endParaRPr>
          </a:p>
          <a:p>
            <a:pPr marL="930402" lvl="1" indent="-514350" algn="just">
              <a:lnSpc>
                <a:spcPct val="90000"/>
              </a:lnSpc>
            </a:pPr>
            <a:r>
              <a:rPr lang="es-ES" sz="2400" b="1" dirty="0">
                <a:solidFill>
                  <a:schemeClr val="bg1"/>
                </a:solidFill>
              </a:rPr>
              <a:t>Puesto que el alfabeto </a:t>
            </a:r>
            <a:r>
              <a:rPr lang="el-GR" sz="2400" b="1" dirty="0">
                <a:solidFill>
                  <a:schemeClr val="bg1"/>
                </a:solidFill>
              </a:rPr>
              <a:t>Σ</a:t>
            </a:r>
            <a:r>
              <a:rPr lang="es-MX" sz="2400" b="1" dirty="0">
                <a:solidFill>
                  <a:schemeClr val="bg1"/>
                </a:solidFill>
              </a:rPr>
              <a:t> es también un lenguaje sobre </a:t>
            </a:r>
            <a:r>
              <a:rPr lang="el-GR" sz="2400" b="1" dirty="0">
                <a:solidFill>
                  <a:schemeClr val="bg1"/>
                </a:solidFill>
              </a:rPr>
              <a:t>Σ</a:t>
            </a:r>
            <a:r>
              <a:rPr lang="es-MX" sz="2400" b="1" dirty="0">
                <a:solidFill>
                  <a:schemeClr val="bg1"/>
                </a:solidFill>
              </a:rPr>
              <a:t>, puede aplicársele esta operación</a:t>
            </a:r>
            <a:r>
              <a:rPr lang="es-MX" sz="2400" b="1" dirty="0" smtClean="0">
                <a:solidFill>
                  <a:schemeClr val="bg1"/>
                </a:solidFill>
              </a:rPr>
              <a:t>.</a:t>
            </a:r>
            <a:endParaRPr lang="es-MX" sz="2400" b="1" dirty="0">
              <a:solidFill>
                <a:schemeClr val="bg1"/>
              </a:solidFill>
            </a:endParaRPr>
          </a:p>
        </p:txBody>
      </p:sp>
      <p:sp>
        <p:nvSpPr>
          <p:cNvPr id="13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14</a:t>
            </a:fld>
            <a:endParaRPr lang="es-MX"/>
          </a:p>
        </p:txBody>
      </p:sp>
      <p:grpSp>
        <p:nvGrpSpPr>
          <p:cNvPr id="5" name="4 Grupo"/>
          <p:cNvGrpSpPr/>
          <p:nvPr/>
        </p:nvGrpSpPr>
        <p:grpSpPr>
          <a:xfrm>
            <a:off x="611560" y="2780928"/>
            <a:ext cx="7776864" cy="1224136"/>
            <a:chOff x="467544" y="4869160"/>
            <a:chExt cx="7776864" cy="1224136"/>
          </a:xfrm>
        </p:grpSpPr>
        <p:sp>
          <p:nvSpPr>
            <p:cNvPr id="4" name="3 Rectángulo redondeado"/>
            <p:cNvSpPr/>
            <p:nvPr/>
          </p:nvSpPr>
          <p:spPr>
            <a:xfrm>
              <a:off x="467544" y="4869160"/>
              <a:ext cx="7776864" cy="122413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9" name="8 Grupo"/>
            <p:cNvGrpSpPr/>
            <p:nvPr/>
          </p:nvGrpSpPr>
          <p:grpSpPr>
            <a:xfrm>
              <a:off x="611560" y="5013176"/>
              <a:ext cx="7416824" cy="915579"/>
              <a:chOff x="827584" y="3068960"/>
              <a:chExt cx="7756235" cy="1059595"/>
            </a:xfrm>
          </p:grpSpPr>
          <p:pic>
            <p:nvPicPr>
              <p:cNvPr id="10" name="Picture 5"/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827584" y="3068960"/>
                <a:ext cx="7756235" cy="1059595"/>
              </a:xfrm>
              <a:prstGeom prst="rect">
                <a:avLst/>
              </a:prstGeom>
              <a:noFill/>
            </p:spPr>
          </p:pic>
          <p:sp>
            <p:nvSpPr>
              <p:cNvPr id="11" name="10 Rectángulo"/>
              <p:cNvSpPr/>
              <p:nvPr/>
            </p:nvSpPr>
            <p:spPr>
              <a:xfrm>
                <a:off x="1691680" y="3212976"/>
                <a:ext cx="777777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r>
                  <a:rPr lang="es-MX" sz="3200" dirty="0" smtClean="0"/>
                  <a:t>{</a:t>
                </a:r>
                <a:r>
                  <a:rPr lang="el-GR" sz="3200" dirty="0" smtClean="0"/>
                  <a:t>λ</a:t>
                </a:r>
                <a:r>
                  <a:rPr lang="es-MX" sz="3200" dirty="0" smtClean="0"/>
                  <a:t>}</a:t>
                </a:r>
                <a:endParaRPr lang="el-GR" sz="3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855157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980728"/>
            <a:ext cx="8087208" cy="5719016"/>
          </a:xfrm>
        </p:spPr>
        <p:txBody>
          <a:bodyPr>
            <a:normAutofit/>
          </a:bodyPr>
          <a:lstStyle/>
          <a:p>
            <a:pPr marL="690372" indent="-571500" algn="just">
              <a:lnSpc>
                <a:spcPct val="90000"/>
              </a:lnSpc>
            </a:pPr>
            <a:r>
              <a:rPr lang="es-ES" sz="4000" b="1" dirty="0" smtClean="0">
                <a:solidFill>
                  <a:schemeClr val="bg1"/>
                </a:solidFill>
              </a:rPr>
              <a:t>Son evidentes las siguientes identidades:</a:t>
            </a:r>
          </a:p>
          <a:p>
            <a:pPr marL="987552" lvl="1" indent="-571500" algn="just">
              <a:lnSpc>
                <a:spcPct val="90000"/>
              </a:lnSpc>
            </a:pPr>
            <a:endParaRPr lang="es-ES" sz="3200" b="1" dirty="0" smtClean="0">
              <a:solidFill>
                <a:schemeClr val="bg1"/>
              </a:solidFill>
            </a:endParaRPr>
          </a:p>
          <a:p>
            <a:pPr marL="987552" lvl="1" indent="-571500" algn="just">
              <a:lnSpc>
                <a:spcPct val="90000"/>
              </a:lnSpc>
            </a:pPr>
            <a:r>
              <a:rPr lang="es-ES" sz="3200" b="1" dirty="0" smtClean="0">
                <a:solidFill>
                  <a:schemeClr val="bg1"/>
                </a:solidFill>
              </a:rPr>
              <a:t>L</a:t>
            </a:r>
            <a:r>
              <a:rPr lang="es-ES" sz="3200" b="1" baseline="30000" dirty="0" smtClean="0">
                <a:solidFill>
                  <a:schemeClr val="bg1"/>
                </a:solidFill>
              </a:rPr>
              <a:t>* </a:t>
            </a:r>
            <a:r>
              <a:rPr lang="es-MX" sz="3200" b="1" dirty="0" smtClean="0">
                <a:solidFill>
                  <a:schemeClr val="bg1"/>
                </a:solidFill>
              </a:rPr>
              <a:t>=</a:t>
            </a:r>
            <a:r>
              <a:rPr lang="es-ES" sz="3200" b="1" dirty="0" smtClean="0">
                <a:solidFill>
                  <a:schemeClr val="bg1"/>
                </a:solidFill>
              </a:rPr>
              <a:t> L</a:t>
            </a:r>
            <a:r>
              <a:rPr lang="es-ES" sz="3200" b="1" baseline="30000" dirty="0" smtClean="0">
                <a:solidFill>
                  <a:schemeClr val="bg1"/>
                </a:solidFill>
              </a:rPr>
              <a:t>+ </a:t>
            </a:r>
            <a:r>
              <a:rPr lang="es-MX" sz="3200" b="1" dirty="0" smtClean="0">
                <a:solidFill>
                  <a:schemeClr val="bg1"/>
                </a:solidFill>
              </a:rPr>
              <a:t>∪ {</a:t>
            </a:r>
            <a:r>
              <a:rPr lang="el-GR" sz="3200" b="1" dirty="0">
                <a:solidFill>
                  <a:schemeClr val="bg1"/>
                </a:solidFill>
              </a:rPr>
              <a:t>λ</a:t>
            </a:r>
            <a:r>
              <a:rPr lang="es-MX" sz="3200" b="1" dirty="0" smtClean="0">
                <a:solidFill>
                  <a:schemeClr val="bg1"/>
                </a:solidFill>
              </a:rPr>
              <a:t>}</a:t>
            </a:r>
          </a:p>
          <a:p>
            <a:pPr marL="987552" lvl="1" indent="-571500" algn="just">
              <a:lnSpc>
                <a:spcPct val="90000"/>
              </a:lnSpc>
            </a:pPr>
            <a:endParaRPr lang="es-ES" sz="3200" b="1" dirty="0" smtClean="0">
              <a:solidFill>
                <a:schemeClr val="bg1"/>
              </a:solidFill>
            </a:endParaRPr>
          </a:p>
          <a:p>
            <a:pPr marL="987552" lvl="1" indent="-571500" algn="just">
              <a:lnSpc>
                <a:spcPct val="90000"/>
              </a:lnSpc>
            </a:pPr>
            <a:r>
              <a:rPr lang="es-ES" sz="3200" b="1" dirty="0" smtClean="0">
                <a:solidFill>
                  <a:schemeClr val="bg1"/>
                </a:solidFill>
              </a:rPr>
              <a:t>L</a:t>
            </a:r>
            <a:r>
              <a:rPr lang="es-ES" sz="3200" b="1" baseline="30000" dirty="0">
                <a:solidFill>
                  <a:schemeClr val="bg1"/>
                </a:solidFill>
              </a:rPr>
              <a:t>+ </a:t>
            </a:r>
            <a:r>
              <a:rPr lang="es-MX" sz="3200" b="1" dirty="0">
                <a:solidFill>
                  <a:schemeClr val="bg1"/>
                </a:solidFill>
              </a:rPr>
              <a:t>=</a:t>
            </a:r>
            <a:r>
              <a:rPr lang="es-ES" sz="3200" b="1" dirty="0">
                <a:solidFill>
                  <a:schemeClr val="bg1"/>
                </a:solidFill>
              </a:rPr>
              <a:t> </a:t>
            </a:r>
            <a:r>
              <a:rPr lang="es-ES" sz="3200" b="1" dirty="0" smtClean="0">
                <a:solidFill>
                  <a:schemeClr val="bg1"/>
                </a:solidFill>
              </a:rPr>
              <a:t>L </a:t>
            </a:r>
            <a:r>
              <a:rPr lang="es-ES" sz="3200" b="1" dirty="0">
                <a:solidFill>
                  <a:schemeClr val="bg1"/>
                </a:solidFill>
              </a:rPr>
              <a:t>L</a:t>
            </a:r>
            <a:r>
              <a:rPr lang="es-ES" sz="3200" b="1" baseline="30000" dirty="0" smtClean="0">
                <a:solidFill>
                  <a:schemeClr val="bg1"/>
                </a:solidFill>
              </a:rPr>
              <a:t>*</a:t>
            </a:r>
            <a:r>
              <a:rPr lang="es-ES" sz="3200" b="1" dirty="0">
                <a:solidFill>
                  <a:schemeClr val="bg1"/>
                </a:solidFill>
              </a:rPr>
              <a:t> </a:t>
            </a:r>
            <a:r>
              <a:rPr lang="es-ES" sz="3200" b="1" dirty="0" smtClean="0">
                <a:solidFill>
                  <a:schemeClr val="bg1"/>
                </a:solidFill>
              </a:rPr>
              <a:t>=L</a:t>
            </a:r>
            <a:r>
              <a:rPr lang="es-ES" sz="3200" b="1" baseline="30000" dirty="0" smtClean="0">
                <a:solidFill>
                  <a:schemeClr val="bg1"/>
                </a:solidFill>
              </a:rPr>
              <a:t>*</a:t>
            </a:r>
            <a:r>
              <a:rPr lang="es-ES" sz="3200" b="1" dirty="0">
                <a:solidFill>
                  <a:schemeClr val="bg1"/>
                </a:solidFill>
              </a:rPr>
              <a:t> </a:t>
            </a:r>
            <a:r>
              <a:rPr lang="es-ES" sz="3200" b="1" dirty="0" smtClean="0">
                <a:solidFill>
                  <a:schemeClr val="bg1"/>
                </a:solidFill>
              </a:rPr>
              <a:t>L</a:t>
            </a:r>
            <a:endParaRPr lang="es-ES" sz="2800" b="1" i="1" dirty="0" smtClean="0">
              <a:solidFill>
                <a:schemeClr val="bg1"/>
              </a:solidFill>
            </a:endParaRPr>
          </a:p>
          <a:p>
            <a:pPr algn="just">
              <a:lnSpc>
                <a:spcPct val="90000"/>
              </a:lnSpc>
            </a:pPr>
            <a:endParaRPr lang="es-ES" sz="3600" i="1" dirty="0" smtClean="0"/>
          </a:p>
        </p:txBody>
      </p:sp>
      <p:sp>
        <p:nvSpPr>
          <p:cNvPr id="10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99894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>
            <a:spLocks noGrp="1" noChangeArrowheads="1"/>
          </p:cNvSpPr>
          <p:nvPr>
            <p:ph idx="1"/>
          </p:nvPr>
        </p:nvSpPr>
        <p:spPr>
          <a:xfrm>
            <a:off x="177614" y="980728"/>
            <a:ext cx="8138802" cy="5719016"/>
          </a:xfrm>
        </p:spPr>
        <p:txBody>
          <a:bodyPr>
            <a:normAutofit/>
          </a:bodyPr>
          <a:lstStyle/>
          <a:p>
            <a:pPr marL="633222" indent="-514350" algn="just">
              <a:lnSpc>
                <a:spcPct val="90000"/>
              </a:lnSpc>
              <a:buFont typeface="+mj-lt"/>
              <a:buAutoNum type="arabicPeriod" startAt="6"/>
            </a:pPr>
            <a:r>
              <a:rPr lang="es-ES" sz="4000" b="1" i="1" dirty="0" smtClean="0">
                <a:solidFill>
                  <a:schemeClr val="bg1"/>
                </a:solidFill>
              </a:rPr>
              <a:t>Reflexión de lenguajes:  </a:t>
            </a:r>
            <a:r>
              <a:rPr lang="es-MX" b="1" dirty="0" smtClean="0">
                <a:solidFill>
                  <a:schemeClr val="bg1"/>
                </a:solidFill>
              </a:rPr>
              <a:t>Sea L un lenguaje cualquiera. Se llama </a:t>
            </a:r>
            <a:r>
              <a:rPr lang="es-MX" b="1" i="1" dirty="0" smtClean="0">
                <a:solidFill>
                  <a:schemeClr val="bg1"/>
                </a:solidFill>
              </a:rPr>
              <a:t>lenguaje reflejo</a:t>
            </a:r>
            <a:r>
              <a:rPr lang="es-MX" b="1" dirty="0" smtClean="0">
                <a:solidFill>
                  <a:schemeClr val="bg1"/>
                </a:solidFill>
              </a:rPr>
              <a:t> o </a:t>
            </a:r>
            <a:r>
              <a:rPr lang="es-MX" b="1" i="1" dirty="0" smtClean="0">
                <a:solidFill>
                  <a:schemeClr val="bg1"/>
                </a:solidFill>
              </a:rPr>
              <a:t>inverso</a:t>
            </a:r>
            <a:r>
              <a:rPr lang="es-MX" b="1" dirty="0" smtClean="0">
                <a:solidFill>
                  <a:schemeClr val="bg1"/>
                </a:solidFill>
              </a:rPr>
              <a:t> de L,  y se representa con L</a:t>
            </a:r>
            <a:r>
              <a:rPr lang="es-ES" sz="3600" b="1" baseline="30000" dirty="0" smtClean="0">
                <a:solidFill>
                  <a:schemeClr val="bg1"/>
                </a:solidFill>
              </a:rPr>
              <a:t>-1</a:t>
            </a:r>
            <a:r>
              <a:rPr lang="es-MX" sz="3600" b="1" dirty="0" smtClean="0">
                <a:solidFill>
                  <a:schemeClr val="bg1"/>
                </a:solidFill>
              </a:rPr>
              <a:t>: {x</a:t>
            </a:r>
            <a:r>
              <a:rPr lang="es-ES" sz="3600" b="1" baseline="30000" dirty="0" smtClean="0">
                <a:solidFill>
                  <a:schemeClr val="bg1"/>
                </a:solidFill>
              </a:rPr>
              <a:t>-1 </a:t>
            </a:r>
            <a:r>
              <a:rPr lang="es-MX" sz="3600" b="1" dirty="0">
                <a:solidFill>
                  <a:schemeClr val="bg1"/>
                </a:solidFill>
              </a:rPr>
              <a:t>| x </a:t>
            </a:r>
            <a:r>
              <a:rPr lang="es-MX" sz="3600" b="1" dirty="0" smtClean="0">
                <a:solidFill>
                  <a:schemeClr val="bg1"/>
                </a:solidFill>
              </a:rPr>
              <a:t>∈ L }</a:t>
            </a:r>
            <a:endParaRPr lang="es-ES" b="1" dirty="0" smtClean="0">
              <a:solidFill>
                <a:schemeClr val="bg1"/>
              </a:solidFill>
            </a:endParaRPr>
          </a:p>
          <a:p>
            <a:pPr marL="930402" lvl="1" indent="-514350" algn="just">
              <a:lnSpc>
                <a:spcPct val="90000"/>
              </a:lnSpc>
            </a:pPr>
            <a:endParaRPr lang="es-ES" sz="3200" b="1" dirty="0" smtClean="0">
              <a:solidFill>
                <a:schemeClr val="bg1"/>
              </a:solidFill>
            </a:endParaRPr>
          </a:p>
          <a:p>
            <a:pPr marL="416052" lvl="1" indent="0" algn="just">
              <a:lnSpc>
                <a:spcPct val="90000"/>
              </a:lnSpc>
              <a:buNone/>
            </a:pPr>
            <a:r>
              <a:rPr lang="es-MX" sz="3200" b="1" dirty="0" smtClean="0">
                <a:solidFill>
                  <a:schemeClr val="bg1"/>
                </a:solidFill>
              </a:rPr>
              <a:t>L</a:t>
            </a:r>
            <a:r>
              <a:rPr lang="es-MX" sz="3200" b="1" baseline="30000" dirty="0" smtClean="0">
                <a:solidFill>
                  <a:schemeClr val="bg1"/>
                </a:solidFill>
              </a:rPr>
              <a:t>-1</a:t>
            </a:r>
            <a:r>
              <a:rPr lang="es-MX" sz="3200" b="1" dirty="0" smtClean="0">
                <a:solidFill>
                  <a:schemeClr val="bg1"/>
                </a:solidFill>
              </a:rPr>
              <a:t> es </a:t>
            </a:r>
            <a:r>
              <a:rPr lang="es-MX" sz="3200" b="1" dirty="0">
                <a:solidFill>
                  <a:schemeClr val="bg1"/>
                </a:solidFill>
              </a:rPr>
              <a:t>el lenguaje que contiene todas las palabras inversas de L.</a:t>
            </a:r>
          </a:p>
        </p:txBody>
      </p:sp>
      <p:sp>
        <p:nvSpPr>
          <p:cNvPr id="10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70926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-9296" y="1"/>
            <a:ext cx="8442344" cy="908719"/>
          </a:xfrm>
        </p:spPr>
        <p:txBody>
          <a:bodyPr>
            <a:normAutofit/>
          </a:bodyPr>
          <a:lstStyle/>
          <a:p>
            <a:r>
              <a:rPr lang="es-MX" b="1" dirty="0" smtClean="0">
                <a:solidFill>
                  <a:schemeClr val="bg1"/>
                </a:solidFill>
              </a:rPr>
              <a:t>Ejercicios: Lenguajes</a:t>
            </a:r>
            <a:endParaRPr lang="es-MX" sz="4600" b="1" dirty="0" smtClean="0">
              <a:solidFill>
                <a:schemeClr val="bg1"/>
              </a:solidFill>
            </a:endParaRPr>
          </a:p>
        </p:txBody>
      </p:sp>
      <p:sp>
        <p:nvSpPr>
          <p:cNvPr id="27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980728"/>
            <a:ext cx="8208912" cy="5491510"/>
          </a:xfrm>
        </p:spPr>
        <p:txBody>
          <a:bodyPr>
            <a:normAutofit/>
          </a:bodyPr>
          <a:lstStyle/>
          <a:p>
            <a:pPr marL="576072" indent="-457200" algn="just">
              <a:lnSpc>
                <a:spcPct val="90000"/>
              </a:lnSpc>
              <a:buFont typeface="+mj-lt"/>
              <a:buAutoNum type="arabicPeriod"/>
            </a:pPr>
            <a:r>
              <a:rPr lang="es-MX" sz="2400" b="1" dirty="0" smtClean="0">
                <a:solidFill>
                  <a:schemeClr val="bg1"/>
                </a:solidFill>
              </a:rPr>
              <a:t>Sea:</a:t>
            </a:r>
          </a:p>
          <a:p>
            <a:pPr marL="416052" lvl="1" indent="0" algn="just">
              <a:lnSpc>
                <a:spcPct val="90000"/>
              </a:lnSpc>
              <a:buNone/>
            </a:pPr>
            <a:r>
              <a:rPr lang="el-GR" sz="2400" b="1" dirty="0" smtClean="0">
                <a:solidFill>
                  <a:schemeClr val="bg1"/>
                </a:solidFill>
              </a:rPr>
              <a:t>Σ</a:t>
            </a:r>
            <a:r>
              <a:rPr lang="es-ES" sz="2400" b="1" baseline="-25000" dirty="0" smtClean="0">
                <a:solidFill>
                  <a:schemeClr val="bg1"/>
                </a:solidFill>
              </a:rPr>
              <a:t>1 </a:t>
            </a:r>
            <a:r>
              <a:rPr lang="es-MX" sz="2400" b="1" dirty="0" smtClean="0">
                <a:solidFill>
                  <a:schemeClr val="bg1"/>
                </a:solidFill>
              </a:rPr>
              <a:t>={</a:t>
            </a:r>
            <a:r>
              <a:rPr lang="es-MX" sz="2400" b="1" dirty="0" err="1" smtClean="0">
                <a:solidFill>
                  <a:schemeClr val="bg1"/>
                </a:solidFill>
              </a:rPr>
              <a:t>a,b,c,d</a:t>
            </a:r>
            <a:r>
              <a:rPr lang="es-MX" sz="2400" b="1" dirty="0" smtClean="0">
                <a:solidFill>
                  <a:schemeClr val="bg1"/>
                </a:solidFill>
              </a:rPr>
              <a:t>,…,z}</a:t>
            </a:r>
          </a:p>
          <a:p>
            <a:pPr marL="873252" lvl="1" indent="-457200" algn="just">
              <a:lnSpc>
                <a:spcPct val="90000"/>
              </a:lnSpc>
            </a:pPr>
            <a:r>
              <a:rPr lang="es-ES" sz="2400" b="1" dirty="0" smtClean="0">
                <a:solidFill>
                  <a:schemeClr val="bg1"/>
                </a:solidFill>
              </a:rPr>
              <a:t>L</a:t>
            </a:r>
            <a:r>
              <a:rPr lang="es-ES" sz="2400" b="1" baseline="-25000" dirty="0" smtClean="0">
                <a:solidFill>
                  <a:schemeClr val="bg1"/>
                </a:solidFill>
              </a:rPr>
              <a:t>1 </a:t>
            </a:r>
            <a:r>
              <a:rPr lang="es-ES" sz="2400" b="1" dirty="0" smtClean="0">
                <a:solidFill>
                  <a:schemeClr val="bg1"/>
                </a:solidFill>
              </a:rPr>
              <a:t>={</a:t>
            </a:r>
            <a:r>
              <a:rPr lang="es-ES" sz="2400" b="1" dirty="0" err="1" smtClean="0">
                <a:solidFill>
                  <a:schemeClr val="bg1"/>
                </a:solidFill>
              </a:rPr>
              <a:t>anita</a:t>
            </a:r>
            <a:r>
              <a:rPr lang="es-ES" sz="2400" b="1" dirty="0" smtClean="0">
                <a:solidFill>
                  <a:schemeClr val="bg1"/>
                </a:solidFill>
              </a:rPr>
              <a:t>, lava, la, tina}</a:t>
            </a:r>
            <a:r>
              <a:rPr lang="es-ES" sz="2400" b="1" baseline="-25000" dirty="0" smtClean="0">
                <a:solidFill>
                  <a:schemeClr val="bg1"/>
                </a:solidFill>
              </a:rPr>
              <a:t> </a:t>
            </a:r>
          </a:p>
          <a:p>
            <a:pPr marL="873252" lvl="1" indent="-457200" algn="just">
              <a:lnSpc>
                <a:spcPct val="90000"/>
              </a:lnSpc>
            </a:pPr>
            <a:r>
              <a:rPr lang="es-ES" sz="2400" b="1" dirty="0" smtClean="0">
                <a:solidFill>
                  <a:schemeClr val="bg1"/>
                </a:solidFill>
              </a:rPr>
              <a:t>L</a:t>
            </a:r>
            <a:r>
              <a:rPr lang="es-ES" sz="2400" b="1" baseline="-25000" dirty="0" smtClean="0">
                <a:solidFill>
                  <a:schemeClr val="bg1"/>
                </a:solidFill>
              </a:rPr>
              <a:t>2 </a:t>
            </a:r>
            <a:r>
              <a:rPr lang="es-ES" sz="2400" b="1" dirty="0" smtClean="0">
                <a:solidFill>
                  <a:schemeClr val="bg1"/>
                </a:solidFill>
              </a:rPr>
              <a:t>={hola, mundo}</a:t>
            </a:r>
            <a:endParaRPr lang="es-ES" sz="2400" b="1" baseline="-25000" dirty="0" smtClean="0">
              <a:solidFill>
                <a:schemeClr val="bg1"/>
              </a:solidFill>
            </a:endParaRPr>
          </a:p>
          <a:p>
            <a:pPr marL="873252" lvl="1" indent="-457200" algn="just">
              <a:lnSpc>
                <a:spcPct val="90000"/>
              </a:lnSpc>
            </a:pPr>
            <a:r>
              <a:rPr lang="es-ES" sz="2400" b="1" dirty="0" smtClean="0">
                <a:solidFill>
                  <a:schemeClr val="bg1"/>
                </a:solidFill>
              </a:rPr>
              <a:t>L</a:t>
            </a:r>
            <a:r>
              <a:rPr lang="es-ES" sz="2400" b="1" baseline="-25000" dirty="0" smtClean="0">
                <a:solidFill>
                  <a:schemeClr val="bg1"/>
                </a:solidFill>
              </a:rPr>
              <a:t>3</a:t>
            </a:r>
            <a:r>
              <a:rPr lang="es-ES" sz="2400" b="1" dirty="0" smtClean="0">
                <a:solidFill>
                  <a:schemeClr val="bg1"/>
                </a:solidFill>
              </a:rPr>
              <a:t>={uno, dos, tres, cuatro, cinco}</a:t>
            </a:r>
            <a:endParaRPr lang="es-ES" sz="2400" b="1" baseline="-25000" dirty="0" smtClean="0">
              <a:solidFill>
                <a:schemeClr val="bg1"/>
              </a:solidFill>
            </a:endParaRPr>
          </a:p>
          <a:p>
            <a:pPr marL="873252" lvl="1" indent="-457200" algn="just">
              <a:lnSpc>
                <a:spcPct val="90000"/>
              </a:lnSpc>
            </a:pPr>
            <a:r>
              <a:rPr lang="es-MX" sz="2400" b="1" dirty="0" smtClean="0">
                <a:solidFill>
                  <a:schemeClr val="bg1"/>
                </a:solidFill>
              </a:rPr>
              <a:t>Obtener:</a:t>
            </a:r>
          </a:p>
          <a:p>
            <a:pPr marL="1239012" lvl="2" indent="-457200" algn="just">
              <a:lnSpc>
                <a:spcPct val="90000"/>
              </a:lnSpc>
            </a:pPr>
            <a:r>
              <a:rPr lang="es-ES" sz="2200" b="1" dirty="0" smtClean="0">
                <a:solidFill>
                  <a:schemeClr val="bg1"/>
                </a:solidFill>
              </a:rPr>
              <a:t>(L</a:t>
            </a:r>
            <a:r>
              <a:rPr lang="es-ES" sz="2200" b="1" baseline="-25000" dirty="0" smtClean="0">
                <a:solidFill>
                  <a:schemeClr val="bg1"/>
                </a:solidFill>
              </a:rPr>
              <a:t>1</a:t>
            </a:r>
            <a:r>
              <a:rPr lang="es-MX" sz="2200" b="1" dirty="0">
                <a:solidFill>
                  <a:schemeClr val="bg1"/>
                </a:solidFill>
              </a:rPr>
              <a:t>∪</a:t>
            </a:r>
            <a:r>
              <a:rPr lang="es-ES" sz="2200" b="1" dirty="0">
                <a:solidFill>
                  <a:schemeClr val="bg1"/>
                </a:solidFill>
              </a:rPr>
              <a:t> </a:t>
            </a:r>
            <a:r>
              <a:rPr lang="es-ES" sz="2200" b="1" dirty="0" smtClean="0">
                <a:solidFill>
                  <a:schemeClr val="bg1"/>
                </a:solidFill>
              </a:rPr>
              <a:t>L</a:t>
            </a:r>
            <a:r>
              <a:rPr lang="es-ES" sz="2200" b="1" baseline="-25000" dirty="0" smtClean="0">
                <a:solidFill>
                  <a:schemeClr val="bg1"/>
                </a:solidFill>
              </a:rPr>
              <a:t>2</a:t>
            </a:r>
            <a:r>
              <a:rPr lang="es-ES" sz="2200" b="1" dirty="0" smtClean="0">
                <a:solidFill>
                  <a:schemeClr val="bg1"/>
                </a:solidFill>
              </a:rPr>
              <a:t>)</a:t>
            </a:r>
            <a:r>
              <a:rPr lang="es-ES" sz="2200" b="1" dirty="0">
                <a:solidFill>
                  <a:schemeClr val="bg1"/>
                </a:solidFill>
              </a:rPr>
              <a:t> </a:t>
            </a:r>
            <a:r>
              <a:rPr lang="es-ES" sz="2200" b="1" dirty="0" smtClean="0">
                <a:solidFill>
                  <a:schemeClr val="bg1"/>
                </a:solidFill>
              </a:rPr>
              <a:t>L</a:t>
            </a:r>
            <a:r>
              <a:rPr lang="es-ES" sz="2200" b="1" baseline="-25000" dirty="0" smtClean="0">
                <a:solidFill>
                  <a:schemeClr val="bg1"/>
                </a:solidFill>
              </a:rPr>
              <a:t>3</a:t>
            </a:r>
            <a:endParaRPr lang="es-ES" sz="2200" b="1" dirty="0" smtClean="0">
              <a:solidFill>
                <a:schemeClr val="bg1"/>
              </a:solidFill>
            </a:endParaRPr>
          </a:p>
          <a:p>
            <a:pPr marL="1239012" lvl="2" indent="-457200" algn="just">
              <a:lnSpc>
                <a:spcPct val="90000"/>
              </a:lnSpc>
            </a:pPr>
            <a:r>
              <a:rPr lang="es-ES" sz="2200" b="1" dirty="0" smtClean="0">
                <a:solidFill>
                  <a:schemeClr val="bg1"/>
                </a:solidFill>
              </a:rPr>
              <a:t>(L</a:t>
            </a:r>
            <a:r>
              <a:rPr lang="es-ES" sz="2200" b="1" baseline="-25000" dirty="0" smtClean="0">
                <a:solidFill>
                  <a:schemeClr val="bg1"/>
                </a:solidFill>
              </a:rPr>
              <a:t>1</a:t>
            </a:r>
            <a:r>
              <a:rPr lang="es-ES" sz="2200" b="1" dirty="0" smtClean="0">
                <a:solidFill>
                  <a:schemeClr val="bg1"/>
                </a:solidFill>
              </a:rPr>
              <a:t> </a:t>
            </a:r>
            <a:r>
              <a:rPr lang="es-ES" sz="2200" b="1" dirty="0">
                <a:solidFill>
                  <a:schemeClr val="bg1"/>
                </a:solidFill>
              </a:rPr>
              <a:t>L</a:t>
            </a:r>
            <a:r>
              <a:rPr lang="es-ES" sz="2200" b="1" baseline="-25000" dirty="0">
                <a:solidFill>
                  <a:schemeClr val="bg1"/>
                </a:solidFill>
              </a:rPr>
              <a:t>2</a:t>
            </a:r>
            <a:r>
              <a:rPr lang="es-ES" sz="2200" b="1" dirty="0">
                <a:solidFill>
                  <a:schemeClr val="bg1"/>
                </a:solidFill>
              </a:rPr>
              <a:t> </a:t>
            </a:r>
            <a:r>
              <a:rPr lang="es-ES" sz="2200" b="1" dirty="0" smtClean="0">
                <a:solidFill>
                  <a:schemeClr val="bg1"/>
                </a:solidFill>
              </a:rPr>
              <a:t>)</a:t>
            </a:r>
            <a:r>
              <a:rPr lang="es-MX" sz="2200" b="1" dirty="0">
                <a:solidFill>
                  <a:schemeClr val="bg1"/>
                </a:solidFill>
              </a:rPr>
              <a:t> </a:t>
            </a:r>
            <a:r>
              <a:rPr lang="es-MX" sz="2200" b="1" dirty="0" smtClean="0">
                <a:solidFill>
                  <a:schemeClr val="bg1"/>
                </a:solidFill>
              </a:rPr>
              <a:t>∪</a:t>
            </a:r>
            <a:r>
              <a:rPr lang="es-ES" sz="2200" b="1" dirty="0">
                <a:solidFill>
                  <a:schemeClr val="bg1"/>
                </a:solidFill>
              </a:rPr>
              <a:t> L</a:t>
            </a:r>
            <a:r>
              <a:rPr lang="es-ES" sz="2200" b="1" baseline="-25000" dirty="0">
                <a:solidFill>
                  <a:schemeClr val="bg1"/>
                </a:solidFill>
              </a:rPr>
              <a:t>3</a:t>
            </a:r>
            <a:endParaRPr lang="es-ES" sz="2200" b="1" dirty="0" smtClean="0">
              <a:solidFill>
                <a:schemeClr val="bg1"/>
              </a:solidFill>
            </a:endParaRPr>
          </a:p>
          <a:p>
            <a:pPr marL="1239012" lvl="2" indent="-457200" algn="just">
              <a:lnSpc>
                <a:spcPct val="90000"/>
              </a:lnSpc>
            </a:pPr>
            <a:r>
              <a:rPr lang="es-ES" sz="2200" b="1" dirty="0" smtClean="0">
                <a:solidFill>
                  <a:schemeClr val="bg1"/>
                </a:solidFill>
              </a:rPr>
              <a:t>L</a:t>
            </a:r>
            <a:r>
              <a:rPr lang="es-ES" sz="2200" b="1" baseline="-25000" dirty="0" smtClean="0">
                <a:solidFill>
                  <a:schemeClr val="bg1"/>
                </a:solidFill>
              </a:rPr>
              <a:t>1</a:t>
            </a:r>
            <a:r>
              <a:rPr lang="es-ES" sz="2200" b="1" baseline="30000" dirty="0" smtClean="0">
                <a:solidFill>
                  <a:schemeClr val="bg1"/>
                </a:solidFill>
              </a:rPr>
              <a:t>2</a:t>
            </a:r>
            <a:endParaRPr lang="es-ES" sz="2200" b="1" dirty="0" smtClean="0">
              <a:solidFill>
                <a:schemeClr val="bg1"/>
              </a:solidFill>
            </a:endParaRPr>
          </a:p>
          <a:p>
            <a:pPr marL="1239012" lvl="2" indent="-457200" algn="just">
              <a:lnSpc>
                <a:spcPct val="90000"/>
              </a:lnSpc>
            </a:pPr>
            <a:r>
              <a:rPr lang="es-ES" sz="2200" b="1" dirty="0" smtClean="0">
                <a:solidFill>
                  <a:schemeClr val="bg1"/>
                </a:solidFill>
              </a:rPr>
              <a:t>L</a:t>
            </a:r>
            <a:r>
              <a:rPr lang="es-ES" sz="2200" b="1" baseline="-25000" dirty="0" smtClean="0">
                <a:solidFill>
                  <a:schemeClr val="bg1"/>
                </a:solidFill>
              </a:rPr>
              <a:t>2</a:t>
            </a:r>
            <a:r>
              <a:rPr lang="es-ES" sz="2200" b="1" baseline="30000" dirty="0" smtClean="0">
                <a:solidFill>
                  <a:schemeClr val="bg1"/>
                </a:solidFill>
              </a:rPr>
              <a:t>+</a:t>
            </a:r>
          </a:p>
          <a:p>
            <a:pPr marL="1239012" lvl="2" indent="-457200" algn="just">
              <a:lnSpc>
                <a:spcPct val="90000"/>
              </a:lnSpc>
            </a:pPr>
            <a:r>
              <a:rPr lang="es-ES" sz="2200" b="1" dirty="0" smtClean="0">
                <a:solidFill>
                  <a:schemeClr val="bg1"/>
                </a:solidFill>
              </a:rPr>
              <a:t>L</a:t>
            </a:r>
            <a:r>
              <a:rPr lang="es-ES" sz="2200" b="1" baseline="-25000" dirty="0" smtClean="0">
                <a:solidFill>
                  <a:schemeClr val="bg1"/>
                </a:solidFill>
              </a:rPr>
              <a:t>2</a:t>
            </a:r>
            <a:r>
              <a:rPr lang="es-ES" sz="2200" b="1" baseline="30000" dirty="0" smtClean="0">
                <a:solidFill>
                  <a:schemeClr val="bg1"/>
                </a:solidFill>
              </a:rPr>
              <a:t>*</a:t>
            </a:r>
          </a:p>
          <a:p>
            <a:pPr marL="1239012" lvl="2" indent="-457200" algn="just">
              <a:lnSpc>
                <a:spcPct val="90000"/>
              </a:lnSpc>
            </a:pPr>
            <a:r>
              <a:rPr lang="es-ES" sz="2200" b="1" dirty="0" smtClean="0">
                <a:solidFill>
                  <a:schemeClr val="bg1"/>
                </a:solidFill>
              </a:rPr>
              <a:t>L</a:t>
            </a:r>
            <a:r>
              <a:rPr lang="es-ES" sz="2200" b="1" baseline="-25000" dirty="0" smtClean="0">
                <a:solidFill>
                  <a:schemeClr val="bg1"/>
                </a:solidFill>
              </a:rPr>
              <a:t>2</a:t>
            </a:r>
            <a:r>
              <a:rPr lang="es-ES" sz="2200" b="1" baseline="30000" dirty="0" smtClean="0">
                <a:solidFill>
                  <a:schemeClr val="bg1"/>
                </a:solidFill>
              </a:rPr>
              <a:t>-1</a:t>
            </a:r>
          </a:p>
          <a:p>
            <a:pPr marL="114300" lvl="0" indent="0" algn="ctr">
              <a:buClr>
                <a:srgbClr val="4F81BD"/>
              </a:buClr>
              <a:buNone/>
            </a:pPr>
            <a:endParaRPr lang="es-ES" sz="2400" baseline="30000" dirty="0" smtClean="0"/>
          </a:p>
        </p:txBody>
      </p:sp>
      <p:sp>
        <p:nvSpPr>
          <p:cNvPr id="10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32076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908720"/>
            <a:ext cx="8136904" cy="5563518"/>
          </a:xfrm>
        </p:spPr>
        <p:txBody>
          <a:bodyPr>
            <a:normAutofit/>
          </a:bodyPr>
          <a:lstStyle/>
          <a:p>
            <a:pPr marL="576072" indent="-457200" algn="just">
              <a:lnSpc>
                <a:spcPct val="90000"/>
              </a:lnSpc>
              <a:buFont typeface="+mj-lt"/>
              <a:buAutoNum type="arabicPeriod" startAt="2"/>
            </a:pPr>
            <a:r>
              <a:rPr lang="es-MX" sz="2400" b="1" dirty="0" smtClean="0">
                <a:solidFill>
                  <a:schemeClr val="bg1"/>
                </a:solidFill>
              </a:rPr>
              <a:t>Sea:</a:t>
            </a:r>
          </a:p>
          <a:p>
            <a:pPr marL="873252" lvl="1" indent="-457200" algn="just">
              <a:lnSpc>
                <a:spcPct val="90000"/>
              </a:lnSpc>
            </a:pPr>
            <a:r>
              <a:rPr lang="el-GR" sz="2400" b="1" dirty="0" smtClean="0">
                <a:solidFill>
                  <a:schemeClr val="bg1"/>
                </a:solidFill>
              </a:rPr>
              <a:t>Σ</a:t>
            </a:r>
            <a:r>
              <a:rPr lang="es-ES" sz="2400" b="1" baseline="-25000" dirty="0" smtClean="0">
                <a:solidFill>
                  <a:schemeClr val="bg1"/>
                </a:solidFill>
              </a:rPr>
              <a:t>1 </a:t>
            </a:r>
            <a:r>
              <a:rPr lang="es-MX" sz="2400" b="1" dirty="0" smtClean="0">
                <a:solidFill>
                  <a:schemeClr val="bg1"/>
                </a:solidFill>
              </a:rPr>
              <a:t>={0,1,2,3,4,5,6,7,8,9,A,B,C,D,F}</a:t>
            </a:r>
          </a:p>
          <a:p>
            <a:pPr marL="873252" lvl="1" indent="-457200" algn="just">
              <a:lnSpc>
                <a:spcPct val="90000"/>
              </a:lnSpc>
            </a:pPr>
            <a:r>
              <a:rPr lang="es-ES" sz="2400" b="1" dirty="0" smtClean="0">
                <a:solidFill>
                  <a:schemeClr val="bg1"/>
                </a:solidFill>
              </a:rPr>
              <a:t>L</a:t>
            </a:r>
            <a:r>
              <a:rPr lang="es-ES" sz="2400" b="1" baseline="-25000" dirty="0" smtClean="0">
                <a:solidFill>
                  <a:schemeClr val="bg1"/>
                </a:solidFill>
              </a:rPr>
              <a:t>1 </a:t>
            </a:r>
            <a:r>
              <a:rPr lang="es-ES" sz="2400" b="1" dirty="0" smtClean="0">
                <a:solidFill>
                  <a:schemeClr val="bg1"/>
                </a:solidFill>
              </a:rPr>
              <a:t>={001AF,10FFAA,109012,667800}</a:t>
            </a:r>
            <a:r>
              <a:rPr lang="es-ES" sz="2400" b="1" baseline="-25000" dirty="0" smtClean="0">
                <a:solidFill>
                  <a:schemeClr val="bg1"/>
                </a:solidFill>
              </a:rPr>
              <a:t> </a:t>
            </a:r>
          </a:p>
          <a:p>
            <a:pPr marL="873252" lvl="1" indent="-457200" algn="just">
              <a:lnSpc>
                <a:spcPct val="90000"/>
              </a:lnSpc>
            </a:pPr>
            <a:r>
              <a:rPr lang="es-ES" sz="2400" b="1" dirty="0" smtClean="0">
                <a:solidFill>
                  <a:schemeClr val="bg1"/>
                </a:solidFill>
              </a:rPr>
              <a:t>L</a:t>
            </a:r>
            <a:r>
              <a:rPr lang="es-ES" sz="2400" b="1" baseline="-25000" dirty="0" smtClean="0">
                <a:solidFill>
                  <a:schemeClr val="bg1"/>
                </a:solidFill>
              </a:rPr>
              <a:t>2 </a:t>
            </a:r>
            <a:r>
              <a:rPr lang="es-ES" sz="2400" b="1" dirty="0" smtClean="0">
                <a:solidFill>
                  <a:schemeClr val="bg1"/>
                </a:solidFill>
              </a:rPr>
              <a:t>={00,10,12,45,66,77}</a:t>
            </a:r>
            <a:endParaRPr lang="es-ES" sz="2400" b="1" baseline="-25000" dirty="0" smtClean="0">
              <a:solidFill>
                <a:schemeClr val="bg1"/>
              </a:solidFill>
            </a:endParaRPr>
          </a:p>
          <a:p>
            <a:pPr marL="873252" lvl="1" indent="-457200" algn="just">
              <a:lnSpc>
                <a:spcPct val="90000"/>
              </a:lnSpc>
            </a:pPr>
            <a:r>
              <a:rPr lang="es-ES" sz="2400" b="1" dirty="0" smtClean="0">
                <a:solidFill>
                  <a:schemeClr val="bg1"/>
                </a:solidFill>
              </a:rPr>
              <a:t>L</a:t>
            </a:r>
            <a:r>
              <a:rPr lang="es-ES" sz="2400" b="1" baseline="-25000" dirty="0" smtClean="0">
                <a:solidFill>
                  <a:schemeClr val="bg1"/>
                </a:solidFill>
              </a:rPr>
              <a:t>3</a:t>
            </a:r>
            <a:r>
              <a:rPr lang="es-ES" sz="2400" b="1" dirty="0" smtClean="0">
                <a:solidFill>
                  <a:schemeClr val="bg1"/>
                </a:solidFill>
              </a:rPr>
              <a:t>={1,0,3,5,6,F,A,B,C}</a:t>
            </a:r>
            <a:endParaRPr lang="es-ES" sz="2400" b="1" baseline="-25000" dirty="0" smtClean="0">
              <a:solidFill>
                <a:schemeClr val="bg1"/>
              </a:solidFill>
            </a:endParaRPr>
          </a:p>
          <a:p>
            <a:pPr marL="873252" lvl="1" indent="-457200" algn="just">
              <a:lnSpc>
                <a:spcPct val="90000"/>
              </a:lnSpc>
            </a:pPr>
            <a:r>
              <a:rPr lang="es-MX" sz="2400" b="1" dirty="0">
                <a:solidFill>
                  <a:schemeClr val="bg1"/>
                </a:solidFill>
              </a:rPr>
              <a:t>Obtener:</a:t>
            </a:r>
          </a:p>
          <a:p>
            <a:pPr marL="1239012" lvl="2" indent="-457200" algn="just">
              <a:lnSpc>
                <a:spcPct val="90000"/>
              </a:lnSpc>
            </a:pPr>
            <a:r>
              <a:rPr lang="es-ES" sz="2200" b="1" dirty="0" smtClean="0">
                <a:solidFill>
                  <a:schemeClr val="bg1"/>
                </a:solidFill>
              </a:rPr>
              <a:t>(L</a:t>
            </a:r>
            <a:r>
              <a:rPr lang="es-ES" sz="2200" b="1" baseline="-25000" dirty="0" smtClean="0">
                <a:solidFill>
                  <a:schemeClr val="bg1"/>
                </a:solidFill>
              </a:rPr>
              <a:t>1</a:t>
            </a:r>
            <a:r>
              <a:rPr lang="es-MX" sz="2200" b="1" dirty="0">
                <a:solidFill>
                  <a:schemeClr val="bg1"/>
                </a:solidFill>
              </a:rPr>
              <a:t>∪</a:t>
            </a:r>
            <a:r>
              <a:rPr lang="es-ES" sz="2200" b="1" dirty="0">
                <a:solidFill>
                  <a:schemeClr val="bg1"/>
                </a:solidFill>
              </a:rPr>
              <a:t> </a:t>
            </a:r>
            <a:r>
              <a:rPr lang="es-ES" sz="2200" b="1" dirty="0" smtClean="0">
                <a:solidFill>
                  <a:schemeClr val="bg1"/>
                </a:solidFill>
              </a:rPr>
              <a:t>L</a:t>
            </a:r>
            <a:r>
              <a:rPr lang="es-ES" sz="2200" b="1" baseline="-25000" dirty="0" smtClean="0">
                <a:solidFill>
                  <a:schemeClr val="bg1"/>
                </a:solidFill>
              </a:rPr>
              <a:t>2</a:t>
            </a:r>
            <a:r>
              <a:rPr lang="es-ES" sz="2200" b="1" dirty="0" smtClean="0">
                <a:solidFill>
                  <a:schemeClr val="bg1"/>
                </a:solidFill>
              </a:rPr>
              <a:t>)</a:t>
            </a:r>
            <a:r>
              <a:rPr lang="es-ES" sz="2200" b="1" dirty="0">
                <a:solidFill>
                  <a:schemeClr val="bg1"/>
                </a:solidFill>
              </a:rPr>
              <a:t> </a:t>
            </a:r>
            <a:r>
              <a:rPr lang="es-ES" sz="2200" b="1" dirty="0" smtClean="0">
                <a:solidFill>
                  <a:schemeClr val="bg1"/>
                </a:solidFill>
              </a:rPr>
              <a:t>L</a:t>
            </a:r>
            <a:r>
              <a:rPr lang="es-ES" sz="2200" b="1" baseline="-25000" dirty="0" smtClean="0">
                <a:solidFill>
                  <a:schemeClr val="bg1"/>
                </a:solidFill>
              </a:rPr>
              <a:t>3</a:t>
            </a:r>
            <a:endParaRPr lang="es-ES" sz="2200" b="1" dirty="0" smtClean="0">
              <a:solidFill>
                <a:schemeClr val="bg1"/>
              </a:solidFill>
            </a:endParaRPr>
          </a:p>
          <a:p>
            <a:pPr marL="1239012" lvl="2" indent="-457200" algn="just">
              <a:lnSpc>
                <a:spcPct val="90000"/>
              </a:lnSpc>
            </a:pPr>
            <a:r>
              <a:rPr lang="es-ES" sz="2200" b="1" dirty="0" smtClean="0">
                <a:solidFill>
                  <a:schemeClr val="bg1"/>
                </a:solidFill>
              </a:rPr>
              <a:t>(L</a:t>
            </a:r>
            <a:r>
              <a:rPr lang="es-ES" sz="2200" b="1" baseline="-25000" dirty="0" smtClean="0">
                <a:solidFill>
                  <a:schemeClr val="bg1"/>
                </a:solidFill>
              </a:rPr>
              <a:t>1</a:t>
            </a:r>
            <a:r>
              <a:rPr lang="es-ES" sz="2200" b="1" dirty="0" smtClean="0">
                <a:solidFill>
                  <a:schemeClr val="bg1"/>
                </a:solidFill>
              </a:rPr>
              <a:t> </a:t>
            </a:r>
            <a:r>
              <a:rPr lang="es-ES" sz="2200" b="1" dirty="0">
                <a:solidFill>
                  <a:schemeClr val="bg1"/>
                </a:solidFill>
              </a:rPr>
              <a:t>L</a:t>
            </a:r>
            <a:r>
              <a:rPr lang="es-ES" sz="2200" b="1" baseline="-25000" dirty="0">
                <a:solidFill>
                  <a:schemeClr val="bg1"/>
                </a:solidFill>
              </a:rPr>
              <a:t>2</a:t>
            </a:r>
            <a:r>
              <a:rPr lang="es-ES" sz="2200" b="1" dirty="0">
                <a:solidFill>
                  <a:schemeClr val="bg1"/>
                </a:solidFill>
              </a:rPr>
              <a:t> </a:t>
            </a:r>
            <a:r>
              <a:rPr lang="es-ES" sz="2200" b="1" dirty="0" smtClean="0">
                <a:solidFill>
                  <a:schemeClr val="bg1"/>
                </a:solidFill>
              </a:rPr>
              <a:t>)</a:t>
            </a:r>
            <a:r>
              <a:rPr lang="es-MX" sz="2200" b="1" dirty="0">
                <a:solidFill>
                  <a:schemeClr val="bg1"/>
                </a:solidFill>
              </a:rPr>
              <a:t> </a:t>
            </a:r>
            <a:r>
              <a:rPr lang="es-MX" sz="2200" b="1" dirty="0" smtClean="0">
                <a:solidFill>
                  <a:schemeClr val="bg1"/>
                </a:solidFill>
              </a:rPr>
              <a:t>∪</a:t>
            </a:r>
            <a:r>
              <a:rPr lang="es-ES" sz="2200" b="1" dirty="0">
                <a:solidFill>
                  <a:schemeClr val="bg1"/>
                </a:solidFill>
              </a:rPr>
              <a:t> L</a:t>
            </a:r>
            <a:r>
              <a:rPr lang="es-ES" sz="2200" b="1" baseline="-25000" dirty="0">
                <a:solidFill>
                  <a:schemeClr val="bg1"/>
                </a:solidFill>
              </a:rPr>
              <a:t>3</a:t>
            </a:r>
            <a:endParaRPr lang="es-ES" sz="2200" b="1" dirty="0" smtClean="0">
              <a:solidFill>
                <a:schemeClr val="bg1"/>
              </a:solidFill>
            </a:endParaRPr>
          </a:p>
          <a:p>
            <a:pPr marL="1239012" lvl="2" indent="-457200" algn="just">
              <a:lnSpc>
                <a:spcPct val="90000"/>
              </a:lnSpc>
            </a:pPr>
            <a:r>
              <a:rPr lang="es-ES" sz="2200" b="1" dirty="0" smtClean="0">
                <a:solidFill>
                  <a:schemeClr val="bg1"/>
                </a:solidFill>
              </a:rPr>
              <a:t>L</a:t>
            </a:r>
            <a:r>
              <a:rPr lang="es-ES" sz="2200" b="1" baseline="-25000" dirty="0" smtClean="0">
                <a:solidFill>
                  <a:schemeClr val="bg1"/>
                </a:solidFill>
              </a:rPr>
              <a:t>1</a:t>
            </a:r>
            <a:r>
              <a:rPr lang="es-ES" sz="2200" b="1" baseline="30000" dirty="0" smtClean="0">
                <a:solidFill>
                  <a:schemeClr val="bg1"/>
                </a:solidFill>
              </a:rPr>
              <a:t>2</a:t>
            </a:r>
            <a:endParaRPr lang="es-ES" sz="2200" b="1" dirty="0" smtClean="0">
              <a:solidFill>
                <a:schemeClr val="bg1"/>
              </a:solidFill>
            </a:endParaRPr>
          </a:p>
          <a:p>
            <a:pPr marL="1239012" lvl="2" indent="-457200" algn="just">
              <a:lnSpc>
                <a:spcPct val="90000"/>
              </a:lnSpc>
            </a:pPr>
            <a:r>
              <a:rPr lang="es-ES" sz="2200" b="1" dirty="0" smtClean="0">
                <a:solidFill>
                  <a:schemeClr val="bg1"/>
                </a:solidFill>
              </a:rPr>
              <a:t>L</a:t>
            </a:r>
            <a:r>
              <a:rPr lang="es-ES" sz="2200" b="1" baseline="-25000" dirty="0" smtClean="0">
                <a:solidFill>
                  <a:schemeClr val="bg1"/>
                </a:solidFill>
              </a:rPr>
              <a:t>2</a:t>
            </a:r>
            <a:r>
              <a:rPr lang="es-ES" sz="2200" b="1" baseline="30000" dirty="0" smtClean="0">
                <a:solidFill>
                  <a:schemeClr val="bg1"/>
                </a:solidFill>
              </a:rPr>
              <a:t>+</a:t>
            </a:r>
          </a:p>
          <a:p>
            <a:pPr marL="1239012" lvl="2" indent="-457200" algn="just">
              <a:lnSpc>
                <a:spcPct val="90000"/>
              </a:lnSpc>
            </a:pPr>
            <a:r>
              <a:rPr lang="es-ES" sz="2200" b="1" dirty="0" smtClean="0">
                <a:solidFill>
                  <a:schemeClr val="bg1"/>
                </a:solidFill>
              </a:rPr>
              <a:t>L</a:t>
            </a:r>
            <a:r>
              <a:rPr lang="es-ES" sz="2200" b="1" baseline="-25000" dirty="0" smtClean="0">
                <a:solidFill>
                  <a:schemeClr val="bg1"/>
                </a:solidFill>
              </a:rPr>
              <a:t>2</a:t>
            </a:r>
            <a:r>
              <a:rPr lang="es-ES" sz="2200" b="1" baseline="30000" dirty="0" smtClean="0">
                <a:solidFill>
                  <a:schemeClr val="bg1"/>
                </a:solidFill>
              </a:rPr>
              <a:t>-1</a:t>
            </a:r>
            <a:r>
              <a:rPr lang="es-ES" sz="2200" b="1" dirty="0" smtClean="0">
                <a:solidFill>
                  <a:schemeClr val="bg1"/>
                </a:solidFill>
              </a:rPr>
              <a:t> </a:t>
            </a:r>
            <a:r>
              <a:rPr lang="es-MX" sz="2200" b="1" dirty="0">
                <a:solidFill>
                  <a:schemeClr val="bg1"/>
                </a:solidFill>
              </a:rPr>
              <a:t>∪</a:t>
            </a:r>
            <a:r>
              <a:rPr lang="es-ES" sz="2200" b="1" dirty="0">
                <a:solidFill>
                  <a:schemeClr val="bg1"/>
                </a:solidFill>
              </a:rPr>
              <a:t> </a:t>
            </a:r>
            <a:r>
              <a:rPr lang="es-ES" sz="2200" b="1" dirty="0" smtClean="0">
                <a:solidFill>
                  <a:schemeClr val="bg1"/>
                </a:solidFill>
              </a:rPr>
              <a:t>(</a:t>
            </a:r>
            <a:r>
              <a:rPr lang="es-ES" sz="2200" b="1" dirty="0">
                <a:solidFill>
                  <a:schemeClr val="bg1"/>
                </a:solidFill>
              </a:rPr>
              <a:t>L</a:t>
            </a:r>
            <a:r>
              <a:rPr lang="es-ES" sz="2200" b="1" baseline="-25000" dirty="0">
                <a:solidFill>
                  <a:schemeClr val="bg1"/>
                </a:solidFill>
              </a:rPr>
              <a:t>1</a:t>
            </a:r>
            <a:r>
              <a:rPr lang="es-MX" sz="2200" b="1" dirty="0">
                <a:solidFill>
                  <a:schemeClr val="bg1"/>
                </a:solidFill>
              </a:rPr>
              <a:t>∪</a:t>
            </a:r>
            <a:r>
              <a:rPr lang="es-ES" sz="2200" b="1" dirty="0">
                <a:solidFill>
                  <a:schemeClr val="bg1"/>
                </a:solidFill>
              </a:rPr>
              <a:t> </a:t>
            </a:r>
            <a:r>
              <a:rPr lang="es-ES" sz="2200" b="1" dirty="0" smtClean="0">
                <a:solidFill>
                  <a:schemeClr val="bg1"/>
                </a:solidFill>
              </a:rPr>
              <a:t>L</a:t>
            </a:r>
            <a:r>
              <a:rPr lang="es-ES" sz="2200" b="1" baseline="-25000" dirty="0" smtClean="0">
                <a:solidFill>
                  <a:schemeClr val="bg1"/>
                </a:solidFill>
              </a:rPr>
              <a:t>3</a:t>
            </a:r>
            <a:r>
              <a:rPr lang="es-ES" sz="2200" b="1" dirty="0" smtClean="0">
                <a:solidFill>
                  <a:schemeClr val="bg1"/>
                </a:solidFill>
              </a:rPr>
              <a:t>) </a:t>
            </a:r>
            <a:endParaRPr lang="es-ES" sz="2200" b="1" baseline="30000" dirty="0" smtClean="0">
              <a:solidFill>
                <a:schemeClr val="bg1"/>
              </a:solidFill>
            </a:endParaRPr>
          </a:p>
          <a:p>
            <a:pPr marL="1239012" lvl="2" indent="-457200" algn="just">
              <a:lnSpc>
                <a:spcPct val="90000"/>
              </a:lnSpc>
            </a:pPr>
            <a:r>
              <a:rPr lang="es-ES" sz="2200" b="1" dirty="0" smtClean="0">
                <a:solidFill>
                  <a:schemeClr val="bg1"/>
                </a:solidFill>
              </a:rPr>
              <a:t>L</a:t>
            </a:r>
            <a:r>
              <a:rPr lang="es-ES" sz="2200" b="1" baseline="-25000" dirty="0" smtClean="0">
                <a:solidFill>
                  <a:schemeClr val="bg1"/>
                </a:solidFill>
              </a:rPr>
              <a:t>2</a:t>
            </a:r>
            <a:r>
              <a:rPr lang="es-ES" sz="2200" b="1" baseline="30000" dirty="0" smtClean="0">
                <a:solidFill>
                  <a:schemeClr val="bg1"/>
                </a:solidFill>
              </a:rPr>
              <a:t>-1</a:t>
            </a:r>
          </a:p>
          <a:p>
            <a:pPr marL="114300" lvl="0" indent="0" algn="ctr">
              <a:buClr>
                <a:srgbClr val="4F81BD"/>
              </a:buClr>
              <a:buNone/>
            </a:pPr>
            <a:endParaRPr lang="es-ES" sz="2400" baseline="30000" dirty="0" smtClean="0">
              <a:solidFill>
                <a:schemeClr val="bg1"/>
              </a:solidFill>
            </a:endParaRPr>
          </a:p>
          <a:p>
            <a:pPr marL="873252" lvl="1" indent="-457200" algn="just">
              <a:lnSpc>
                <a:spcPct val="90000"/>
              </a:lnSpc>
            </a:pPr>
            <a:endParaRPr lang="es-ES" sz="2400" dirty="0"/>
          </a:p>
          <a:p>
            <a:pPr marL="576072" indent="-457200" algn="just">
              <a:lnSpc>
                <a:spcPct val="90000"/>
              </a:lnSpc>
            </a:pPr>
            <a:endParaRPr lang="es-ES" sz="2400" dirty="0" smtClean="0"/>
          </a:p>
        </p:txBody>
      </p:sp>
      <p:sp>
        <p:nvSpPr>
          <p:cNvPr id="10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BFA06-222C-4F7F-9B5A-DED9CF65962D}" type="slidenum">
              <a:rPr lang="es-MX" smtClean="0"/>
              <a:pPr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58548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3845</TotalTime>
  <Words>990</Words>
  <Application>Microsoft Office PowerPoint</Application>
  <PresentationFormat>Presentación en pantalla (4:3)</PresentationFormat>
  <Paragraphs>148</Paragraphs>
  <Slides>18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 Math</vt:lpstr>
      <vt:lpstr>Times New Roman</vt:lpstr>
      <vt:lpstr>Tema de Office</vt:lpstr>
      <vt:lpstr>Lenguajes</vt:lpstr>
      <vt:lpstr>Contenido</vt:lpstr>
      <vt:lpstr>Lenguaje</vt:lpstr>
      <vt:lpstr>Lenguaje</vt:lpstr>
      <vt:lpstr>Lenguaje</vt:lpstr>
      <vt:lpstr>Operaciones entre lenguajes</vt:lpstr>
      <vt:lpstr>La unión de lenguajes tiene las siguientes propiedades: </vt:lpstr>
      <vt:lpstr>La unión de lenguajes tiene las siguientes propiedades: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Ejercicios: Lenguajes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04: Lenguajes</dc:title>
  <dc:creator>Edgardo Adrián</dc:creator>
  <cp:lastModifiedBy>Olvera</cp:lastModifiedBy>
  <cp:revision>139</cp:revision>
  <dcterms:created xsi:type="dcterms:W3CDTF">2009-11-23T22:55:28Z</dcterms:created>
  <dcterms:modified xsi:type="dcterms:W3CDTF">2016-08-17T22:40:33Z</dcterms:modified>
</cp:coreProperties>
</file>